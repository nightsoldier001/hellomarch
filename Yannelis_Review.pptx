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83" r:id="rId2"/>
  </p:sldMasterIdLst>
  <p:notesMasterIdLst>
    <p:notesMasterId r:id="rId57"/>
  </p:notesMasterIdLst>
  <p:sldIdLst>
    <p:sldId id="256" r:id="rId3"/>
    <p:sldId id="1245" r:id="rId4"/>
    <p:sldId id="1257" r:id="rId5"/>
    <p:sldId id="1259" r:id="rId6"/>
    <p:sldId id="1258" r:id="rId7"/>
    <p:sldId id="1260" r:id="rId8"/>
    <p:sldId id="258" r:id="rId9"/>
    <p:sldId id="1261" r:id="rId10"/>
    <p:sldId id="259" r:id="rId11"/>
    <p:sldId id="1262" r:id="rId12"/>
    <p:sldId id="1263" r:id="rId13"/>
    <p:sldId id="260" r:id="rId14"/>
    <p:sldId id="1264" r:id="rId15"/>
    <p:sldId id="261" r:id="rId16"/>
    <p:sldId id="1266" r:id="rId17"/>
    <p:sldId id="1265" r:id="rId18"/>
    <p:sldId id="262" r:id="rId19"/>
    <p:sldId id="1267" r:id="rId20"/>
    <p:sldId id="263" r:id="rId21"/>
    <p:sldId id="1268" r:id="rId22"/>
    <p:sldId id="264" r:id="rId23"/>
    <p:sldId id="1269" r:id="rId24"/>
    <p:sldId id="265" r:id="rId25"/>
    <p:sldId id="1270" r:id="rId26"/>
    <p:sldId id="266" r:id="rId27"/>
    <p:sldId id="1272" r:id="rId28"/>
    <p:sldId id="1273" r:id="rId29"/>
    <p:sldId id="267" r:id="rId30"/>
    <p:sldId id="1274" r:id="rId31"/>
    <p:sldId id="268" r:id="rId32"/>
    <p:sldId id="269" r:id="rId33"/>
    <p:sldId id="1275" r:id="rId34"/>
    <p:sldId id="270" r:id="rId35"/>
    <p:sldId id="1276" r:id="rId36"/>
    <p:sldId id="271" r:id="rId37"/>
    <p:sldId id="1278" r:id="rId38"/>
    <p:sldId id="1277" r:id="rId39"/>
    <p:sldId id="1279" r:id="rId40"/>
    <p:sldId id="272" r:id="rId41"/>
    <p:sldId id="1280" r:id="rId42"/>
    <p:sldId id="273" r:id="rId43"/>
    <p:sldId id="1281" r:id="rId44"/>
    <p:sldId id="274" r:id="rId45"/>
    <p:sldId id="1282" r:id="rId46"/>
    <p:sldId id="1248" r:id="rId47"/>
    <p:sldId id="1250" r:id="rId48"/>
    <p:sldId id="1249" r:id="rId49"/>
    <p:sldId id="1283" r:id="rId50"/>
    <p:sldId id="558" r:id="rId51"/>
    <p:sldId id="1254" r:id="rId52"/>
    <p:sldId id="1284" r:id="rId53"/>
    <p:sldId id="1285" r:id="rId54"/>
    <p:sldId id="1286" r:id="rId55"/>
    <p:sldId id="1287"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50" autoAdjust="0"/>
    <p:restoredTop sz="69320" autoAdjust="0"/>
  </p:normalViewPr>
  <p:slideViewPr>
    <p:cSldViewPr snapToGrid="0" snapToObjects="1">
      <p:cViewPr varScale="1">
        <p:scale>
          <a:sx n="86" d="100"/>
          <a:sy n="86" d="100"/>
        </p:scale>
        <p:origin x="2024" y="200"/>
      </p:cViewPr>
      <p:guideLst>
        <p:guide orient="horz" pos="2160"/>
        <p:guide pos="3840"/>
      </p:guideLst>
    </p:cSldViewPr>
  </p:slideViewPr>
  <p:outlineViewPr>
    <p:cViewPr>
      <p:scale>
        <a:sx n="33" d="100"/>
        <a:sy n="33" d="100"/>
      </p:scale>
      <p:origin x="0" y="-38384"/>
    </p:cViewPr>
    <p:sldLst>
      <p:sld r:id="rId1" collapse="1"/>
    </p:sldLst>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s>
</file>

<file path=ppt/_rels/viewProps.xml.rels><?xml version="1.0" encoding="UTF-8" standalone="yes"?>
<Relationships xmlns="http://schemas.openxmlformats.org/package/2006/relationships"><Relationship Id="rId1"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71CDFE-1060-9644-B3F9-C4838E64F46E}" type="datetimeFigureOut">
              <a:rPr lang="en-US" smtClean="0"/>
              <a:t>3/14/26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53E634-D890-1041-AF39-141A2CE22555}" type="slidenum">
              <a:rPr lang="en-US" smtClean="0"/>
              <a:t>‹#›</a:t>
            </a:fld>
            <a:endParaRPr lang="en-US"/>
          </a:p>
        </p:txBody>
      </p:sp>
    </p:spTree>
    <p:extLst>
      <p:ext uri="{BB962C8B-B14F-4D97-AF65-F5344CB8AC3E}">
        <p14:creationId xmlns:p14="http://schemas.microsoft.com/office/powerpoint/2010/main" val="1887123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53E634-D890-1041-AF39-141A2CE22555}" type="slidenum">
              <a:rPr lang="en-US" smtClean="0"/>
              <a:t>1</a:t>
            </a:fld>
            <a:endParaRPr lang="en-US"/>
          </a:p>
        </p:txBody>
      </p:sp>
    </p:spTree>
    <p:extLst>
      <p:ext uri="{BB962C8B-B14F-4D97-AF65-F5344CB8AC3E}">
        <p14:creationId xmlns:p14="http://schemas.microsoft.com/office/powerpoint/2010/main" val="904421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a:p>
        </p:txBody>
      </p:sp>
      <p:sp>
        <p:nvSpPr>
          <p:cNvPr id="4" name="Slide Number Placeholder 3"/>
          <p:cNvSpPr>
            <a:spLocks noGrp="1"/>
          </p:cNvSpPr>
          <p:nvPr>
            <p:ph type="sldNum" sz="quarter" idx="5"/>
          </p:nvPr>
        </p:nvSpPr>
        <p:spPr/>
        <p:txBody>
          <a:bodyPr/>
          <a:lstStyle/>
          <a:p>
            <a:fld id="{F853E634-D890-1041-AF39-141A2CE22555}" type="slidenum">
              <a:rPr lang="en-US" smtClean="0"/>
              <a:t>2</a:t>
            </a:fld>
            <a:endParaRPr lang="en-US"/>
          </a:p>
        </p:txBody>
      </p:sp>
    </p:spTree>
    <p:extLst>
      <p:ext uri="{BB962C8B-B14F-4D97-AF65-F5344CB8AC3E}">
        <p14:creationId xmlns:p14="http://schemas.microsoft.com/office/powerpoint/2010/main" val="3703894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53E634-D890-1041-AF39-141A2CE22555}" type="slidenum">
              <a:rPr lang="en-US" smtClean="0"/>
              <a:t>38</a:t>
            </a:fld>
            <a:endParaRPr lang="en-US"/>
          </a:p>
        </p:txBody>
      </p:sp>
    </p:spTree>
    <p:extLst>
      <p:ext uri="{BB962C8B-B14F-4D97-AF65-F5344CB8AC3E}">
        <p14:creationId xmlns:p14="http://schemas.microsoft.com/office/powerpoint/2010/main" val="3601638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F853E634-D890-1041-AF39-141A2CE22555}" type="slidenum">
              <a:rPr lang="en-US" smtClean="0"/>
              <a:t>45</a:t>
            </a:fld>
            <a:endParaRPr lang="en-US"/>
          </a:p>
        </p:txBody>
      </p:sp>
    </p:spTree>
    <p:extLst>
      <p:ext uri="{BB962C8B-B14F-4D97-AF65-F5344CB8AC3E}">
        <p14:creationId xmlns:p14="http://schemas.microsoft.com/office/powerpoint/2010/main" val="524777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
        <p:nvSpPr>
          <p:cNvPr id="4" name="Slide Number Placeholder 3"/>
          <p:cNvSpPr>
            <a:spLocks noGrp="1"/>
          </p:cNvSpPr>
          <p:nvPr>
            <p:ph type="sldNum" sz="quarter" idx="5"/>
          </p:nvPr>
        </p:nvSpPr>
        <p:spPr/>
        <p:txBody>
          <a:bodyPr/>
          <a:lstStyle/>
          <a:p>
            <a:fld id="{F853E634-D890-1041-AF39-141A2CE22555}" type="slidenum">
              <a:rPr lang="en-US" smtClean="0"/>
              <a:t>46</a:t>
            </a:fld>
            <a:endParaRPr lang="en-US"/>
          </a:p>
        </p:txBody>
      </p:sp>
    </p:spTree>
    <p:extLst>
      <p:ext uri="{BB962C8B-B14F-4D97-AF65-F5344CB8AC3E}">
        <p14:creationId xmlns:p14="http://schemas.microsoft.com/office/powerpoint/2010/main" val="2726658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a:p>
        </p:txBody>
      </p:sp>
      <p:sp>
        <p:nvSpPr>
          <p:cNvPr id="4" name="Slide Number Placeholder 3"/>
          <p:cNvSpPr>
            <a:spLocks noGrp="1"/>
          </p:cNvSpPr>
          <p:nvPr>
            <p:ph type="sldNum" sz="quarter" idx="5"/>
          </p:nvPr>
        </p:nvSpPr>
        <p:spPr/>
        <p:txBody>
          <a:bodyPr/>
          <a:lstStyle/>
          <a:p>
            <a:fld id="{F853E634-D890-1041-AF39-141A2CE22555}" type="slidenum">
              <a:rPr lang="en-US" smtClean="0"/>
              <a:t>47</a:t>
            </a:fld>
            <a:endParaRPr lang="en-US"/>
          </a:p>
        </p:txBody>
      </p:sp>
    </p:spTree>
    <p:extLst>
      <p:ext uri="{BB962C8B-B14F-4D97-AF65-F5344CB8AC3E}">
        <p14:creationId xmlns:p14="http://schemas.microsoft.com/office/powerpoint/2010/main" val="3894385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59C15-6479-B565-0B49-C7A3CAE78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B252DF-A495-5CC8-C49E-4997D08DC38A}"/>
              </a:ext>
            </a:extLst>
          </p:cNvPr>
          <p:cNvSpPr>
            <a:spLocks noGrp="1" noRot="1" noChangeAspect="1"/>
          </p:cNvSpPr>
          <p:nvPr>
            <p:ph type="sldImg"/>
          </p:nvPr>
        </p:nvSpPr>
        <p:spPr>
          <a:xfrm>
            <a:off x="139700" y="768350"/>
            <a:ext cx="6819900" cy="3836988"/>
          </a:xfrm>
        </p:spPr>
      </p:sp>
      <p:sp>
        <p:nvSpPr>
          <p:cNvPr id="3" name="Notes Placeholder 2">
            <a:extLst>
              <a:ext uri="{FF2B5EF4-FFF2-40B4-BE49-F238E27FC236}">
                <a16:creationId xmlns:a16="http://schemas.microsoft.com/office/drawing/2014/main" id="{7D8B3562-0838-E18D-DF41-1EE12AC164B8}"/>
              </a:ext>
            </a:extLst>
          </p:cNvPr>
          <p:cNvSpPr>
            <a:spLocks noGrp="1"/>
          </p:cNvSpPr>
          <p:nvPr>
            <p:ph type="body" idx="1"/>
          </p:nvPr>
        </p:nvSpPr>
        <p:spPr/>
        <p:txBody>
          <a:bodyPr/>
          <a:lstStyle/>
          <a:p>
            <a:r>
              <a:rPr lang="en-HK" sz="1200" b="0" i="0" kern="1200" dirty="0">
                <a:solidFill>
                  <a:schemeClr val="tx1"/>
                </a:solidFill>
                <a:effectLst/>
                <a:latin typeface="+mn-lt"/>
                <a:ea typeface="+mn-ea"/>
                <a:cs typeface="+mn-cs"/>
              </a:rPr>
              <a:t>The </a:t>
            </a:r>
            <a:r>
              <a:rPr lang="en-HK" sz="1200" b="1" i="0" kern="1200" dirty="0">
                <a:solidFill>
                  <a:schemeClr val="tx1"/>
                </a:solidFill>
                <a:effectLst/>
                <a:latin typeface="+mn-lt"/>
                <a:ea typeface="+mn-ea"/>
                <a:cs typeface="+mn-cs"/>
              </a:rPr>
              <a:t>market for corporate</a:t>
            </a:r>
            <a:r>
              <a:rPr lang="en-HK" sz="1200" b="0" i="0" kern="1200" dirty="0">
                <a:solidFill>
                  <a:schemeClr val="tx1"/>
                </a:solidFill>
                <a:effectLst/>
                <a:latin typeface="+mn-lt"/>
                <a:ea typeface="+mn-ea"/>
                <a:cs typeface="+mn-cs"/>
              </a:rPr>
              <a:t> control is the role of equity </a:t>
            </a:r>
            <a:r>
              <a:rPr lang="en-HK" sz="1200" b="1" i="0" kern="1200" dirty="0">
                <a:solidFill>
                  <a:schemeClr val="tx1"/>
                </a:solidFill>
                <a:effectLst/>
                <a:latin typeface="+mn-lt"/>
                <a:ea typeface="+mn-ea"/>
                <a:cs typeface="+mn-cs"/>
              </a:rPr>
              <a:t>markets</a:t>
            </a:r>
            <a:r>
              <a:rPr lang="en-HK" sz="1200" b="0" i="0" kern="1200" dirty="0">
                <a:solidFill>
                  <a:schemeClr val="tx1"/>
                </a:solidFill>
                <a:effectLst/>
                <a:latin typeface="+mn-lt"/>
                <a:ea typeface="+mn-ea"/>
                <a:cs typeface="+mn-cs"/>
              </a:rPr>
              <a:t> in facilitating </a:t>
            </a:r>
            <a:r>
              <a:rPr lang="en-HK" sz="1200" b="1" i="0" kern="1200" dirty="0">
                <a:solidFill>
                  <a:schemeClr val="tx1"/>
                </a:solidFill>
                <a:effectLst/>
                <a:latin typeface="+mn-lt"/>
                <a:ea typeface="+mn-ea"/>
                <a:cs typeface="+mn-cs"/>
              </a:rPr>
              <a:t>corporate takeovers</a:t>
            </a:r>
            <a:r>
              <a:rPr lang="en-HK" sz="1200" b="0" i="0" kern="1200" dirty="0">
                <a:solidFill>
                  <a:schemeClr val="tx1"/>
                </a:solidFill>
                <a:effectLst/>
                <a:latin typeface="+mn-lt"/>
                <a:ea typeface="+mn-ea"/>
                <a:cs typeface="+mn-cs"/>
              </a:rPr>
              <a:t>. ... The lower the stock price, relative to what it could be with more efficient management, the more attractive the take-over becomes to those who believe that they can manage the company more efficiently.</a:t>
            </a:r>
          </a:p>
          <a:p>
            <a:endParaRPr lang="en-HK" sz="1200" b="0" i="0" kern="1200" dirty="0">
              <a:solidFill>
                <a:schemeClr val="tx1"/>
              </a:solidFill>
              <a:effectLst/>
              <a:latin typeface="+mn-lt"/>
              <a:ea typeface="+mn-ea"/>
              <a:cs typeface="+mn-cs"/>
            </a:endParaRPr>
          </a:p>
          <a:p>
            <a:r>
              <a:rPr lang="en-HK" sz="1200" b="1" i="0" kern="1200" dirty="0">
                <a:solidFill>
                  <a:schemeClr val="tx1"/>
                </a:solidFill>
                <a:effectLst/>
                <a:latin typeface="+mn-lt"/>
                <a:ea typeface="+mn-ea"/>
                <a:cs typeface="+mn-cs"/>
              </a:rPr>
              <a:t>mergers</a:t>
            </a:r>
            <a:r>
              <a:rPr lang="en-HK" sz="1200" b="0" i="0" kern="1200" dirty="0">
                <a:solidFill>
                  <a:schemeClr val="tx1"/>
                </a:solidFill>
                <a:effectLst/>
                <a:latin typeface="+mn-lt"/>
                <a:ea typeface="+mn-ea"/>
                <a:cs typeface="+mn-cs"/>
              </a:rPr>
              <a:t> are planned and executed by managers who maximize their own utility instead of their shareholders' value. ... (1986) found that management share ownership and the number of inside directors were negatively associated with </a:t>
            </a:r>
            <a:r>
              <a:rPr lang="en-HK" sz="1200" b="1" i="0" kern="1200" dirty="0">
                <a:solidFill>
                  <a:schemeClr val="tx1"/>
                </a:solidFill>
                <a:effectLst/>
                <a:latin typeface="+mn-lt"/>
                <a:ea typeface="+mn-ea"/>
                <a:cs typeface="+mn-cs"/>
              </a:rPr>
              <a:t>merger</a:t>
            </a:r>
            <a:r>
              <a:rPr lang="en-HK" sz="1200" b="0" i="0" kern="1200" dirty="0">
                <a:solidFill>
                  <a:schemeClr val="tx1"/>
                </a:solidFill>
                <a:effectLst/>
                <a:latin typeface="+mn-lt"/>
                <a:ea typeface="+mn-ea"/>
                <a:cs typeface="+mn-cs"/>
              </a:rPr>
              <a:t> results.</a:t>
            </a:r>
          </a:p>
          <a:p>
            <a:endParaRPr lang="en-HK" sz="1200" b="0" i="0" kern="1200" dirty="0">
              <a:solidFill>
                <a:schemeClr val="tx1"/>
              </a:solidFill>
              <a:effectLst/>
              <a:latin typeface="+mn-lt"/>
              <a:ea typeface="+mn-ea"/>
              <a:cs typeface="+mn-cs"/>
            </a:endParaRPr>
          </a:p>
          <a:p>
            <a:r>
              <a:rPr lang="en-HK" sz="1200" b="1" i="0" kern="1200" dirty="0">
                <a:solidFill>
                  <a:schemeClr val="tx1"/>
                </a:solidFill>
                <a:effectLst/>
                <a:latin typeface="+mn-lt"/>
                <a:ea typeface="+mn-ea"/>
                <a:cs typeface="+mn-cs"/>
              </a:rPr>
              <a:t>Overconfident</a:t>
            </a:r>
            <a:r>
              <a:rPr lang="en-HK" sz="1200" b="0" i="0" kern="1200" dirty="0">
                <a:solidFill>
                  <a:schemeClr val="tx1"/>
                </a:solidFill>
                <a:effectLst/>
                <a:latin typeface="+mn-lt"/>
                <a:ea typeface="+mn-ea"/>
                <a:cs typeface="+mn-cs"/>
              </a:rPr>
              <a:t> managers are unambiguously more likely to conduct </a:t>
            </a:r>
            <a:r>
              <a:rPr lang="en-HK" sz="1200" b="1" i="0" kern="1200" dirty="0">
                <a:solidFill>
                  <a:schemeClr val="tx1"/>
                </a:solidFill>
                <a:effectLst/>
                <a:latin typeface="+mn-lt"/>
                <a:ea typeface="+mn-ea"/>
                <a:cs typeface="+mn-cs"/>
              </a:rPr>
              <a:t>mergers</a:t>
            </a:r>
            <a:r>
              <a:rPr lang="en-HK" sz="1200" b="0" i="0" kern="1200" dirty="0">
                <a:solidFill>
                  <a:schemeClr val="tx1"/>
                </a:solidFill>
                <a:effectLst/>
                <a:latin typeface="+mn-lt"/>
                <a:ea typeface="+mn-ea"/>
                <a:cs typeface="+mn-cs"/>
              </a:rPr>
              <a:t> only if they have sufficient internal resources. Moreover, if </a:t>
            </a:r>
            <a:r>
              <a:rPr lang="en-HK" sz="1200" b="1" i="0" kern="1200" dirty="0">
                <a:solidFill>
                  <a:schemeClr val="tx1"/>
                </a:solidFill>
                <a:effectLst/>
                <a:latin typeface="+mn-lt"/>
                <a:ea typeface="+mn-ea"/>
                <a:cs typeface="+mn-cs"/>
              </a:rPr>
              <a:t>overconfidence</a:t>
            </a:r>
            <a:r>
              <a:rPr lang="en-HK" sz="1200" b="0" i="0" kern="1200" dirty="0">
                <a:solidFill>
                  <a:schemeClr val="tx1"/>
                </a:solidFill>
                <a:effectLst/>
                <a:latin typeface="+mn-lt"/>
                <a:ea typeface="+mn-ea"/>
                <a:cs typeface="+mn-cs"/>
              </a:rPr>
              <a:t> increases </a:t>
            </a:r>
            <a:r>
              <a:rPr lang="en-HK" sz="1200" b="1" i="0" kern="1200" dirty="0">
                <a:solidFill>
                  <a:schemeClr val="tx1"/>
                </a:solidFill>
                <a:effectLst/>
                <a:latin typeface="+mn-lt"/>
                <a:ea typeface="+mn-ea"/>
                <a:cs typeface="+mn-cs"/>
              </a:rPr>
              <a:t>merger</a:t>
            </a:r>
            <a:r>
              <a:rPr lang="en-HK" sz="1200" b="0" i="0" kern="1200" dirty="0">
                <a:solidFill>
                  <a:schemeClr val="tx1"/>
                </a:solidFill>
                <a:effectLst/>
                <a:latin typeface="+mn-lt"/>
                <a:ea typeface="+mn-ea"/>
                <a:cs typeface="+mn-cs"/>
              </a:rPr>
              <a:t> frequency, it also lowers average deal quality and induces a lower average market reaction to the announcement of </a:t>
            </a:r>
            <a:r>
              <a:rPr lang="en-HK" sz="1200" b="1" i="0" kern="1200" dirty="0">
                <a:solidFill>
                  <a:schemeClr val="tx1"/>
                </a:solidFill>
                <a:effectLst/>
                <a:latin typeface="+mn-lt"/>
                <a:ea typeface="+mn-ea"/>
                <a:cs typeface="+mn-cs"/>
              </a:rPr>
              <a:t>merger</a:t>
            </a:r>
            <a:r>
              <a:rPr lang="en-HK" sz="1200" b="0" i="0" kern="1200" dirty="0">
                <a:solidFill>
                  <a:schemeClr val="tx1"/>
                </a:solidFill>
                <a:effectLst/>
                <a:latin typeface="+mn-lt"/>
                <a:ea typeface="+mn-ea"/>
                <a:cs typeface="+mn-cs"/>
              </a:rPr>
              <a:t> bids.</a:t>
            </a:r>
            <a:endParaRPr lang="en-US" dirty="0"/>
          </a:p>
        </p:txBody>
      </p:sp>
      <p:sp>
        <p:nvSpPr>
          <p:cNvPr id="4" name="Slide Number Placeholder 3">
            <a:extLst>
              <a:ext uri="{FF2B5EF4-FFF2-40B4-BE49-F238E27FC236}">
                <a16:creationId xmlns:a16="http://schemas.microsoft.com/office/drawing/2014/main" id="{6563DF23-EFA1-14D1-2805-F2D23F8A1683}"/>
              </a:ext>
            </a:extLst>
          </p:cNvPr>
          <p:cNvSpPr>
            <a:spLocks noGrp="1"/>
          </p:cNvSpPr>
          <p:nvPr>
            <p:ph type="sldNum" sz="quarter" idx="10"/>
          </p:nvPr>
        </p:nvSpPr>
        <p:spPr/>
        <p:txBody>
          <a:bodyPr/>
          <a:lstStyle/>
          <a:p>
            <a:fld id="{E77B7CF8-521C-4C70-8C89-AC981D738ABE}" type="slidenum">
              <a:rPr lang="en-US" smtClean="0"/>
              <a:t>48</a:t>
            </a:fld>
            <a:endParaRPr lang="en-US"/>
          </a:p>
        </p:txBody>
      </p:sp>
      <p:sp>
        <p:nvSpPr>
          <p:cNvPr id="6" name="Header Placeholder 5">
            <a:extLst>
              <a:ext uri="{FF2B5EF4-FFF2-40B4-BE49-F238E27FC236}">
                <a16:creationId xmlns:a16="http://schemas.microsoft.com/office/drawing/2014/main" id="{D57C0309-E4D2-F7E7-330F-E3F50E7694D9}"/>
              </a:ext>
            </a:extLst>
          </p:cNvPr>
          <p:cNvSpPr>
            <a:spLocks noGrp="1"/>
          </p:cNvSpPr>
          <p:nvPr>
            <p:ph type="hdr" sz="quarter" idx="12"/>
          </p:nvPr>
        </p:nvSpPr>
        <p:spPr/>
        <p:txBody>
          <a:bodyPr/>
          <a:lstStyle/>
          <a:p>
            <a:endParaRPr lang="en-US"/>
          </a:p>
        </p:txBody>
      </p:sp>
    </p:spTree>
    <p:extLst>
      <p:ext uri="{BB962C8B-B14F-4D97-AF65-F5344CB8AC3E}">
        <p14:creationId xmlns:p14="http://schemas.microsoft.com/office/powerpoint/2010/main" val="971333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a:p>
        </p:txBody>
      </p:sp>
      <p:sp>
        <p:nvSpPr>
          <p:cNvPr id="4" name="Slide Number Placeholder 3"/>
          <p:cNvSpPr>
            <a:spLocks noGrp="1"/>
          </p:cNvSpPr>
          <p:nvPr>
            <p:ph type="sldNum" sz="quarter" idx="5"/>
          </p:nvPr>
        </p:nvSpPr>
        <p:spPr/>
        <p:txBody>
          <a:bodyPr/>
          <a:lstStyle/>
          <a:p>
            <a:fld id="{F853E634-D890-1041-AF39-141A2CE22555}" type="slidenum">
              <a:rPr lang="en-US" smtClean="0"/>
              <a:t>49</a:t>
            </a:fld>
            <a:endParaRPr lang="en-US"/>
          </a:p>
        </p:txBody>
      </p:sp>
    </p:spTree>
    <p:extLst>
      <p:ext uri="{BB962C8B-B14F-4D97-AF65-F5344CB8AC3E}">
        <p14:creationId xmlns:p14="http://schemas.microsoft.com/office/powerpoint/2010/main" val="3076570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xfrm>
            <a:off x="2376488" y="555625"/>
            <a:ext cx="4856162" cy="2732088"/>
          </a:xfrm>
          <a:ln/>
        </p:spPr>
      </p:sp>
      <p:sp>
        <p:nvSpPr>
          <p:cNvPr id="35843" name="Rectangle 3"/>
          <p:cNvSpPr>
            <a:spLocks noGrp="1" noChangeArrowheads="1"/>
          </p:cNvSpPr>
          <p:nvPr>
            <p:ph type="body" idx="1"/>
          </p:nvPr>
        </p:nvSpPr>
        <p:spPr>
          <a:xfrm>
            <a:off x="1279327" y="3476172"/>
            <a:ext cx="7042547" cy="3287486"/>
          </a:xfrm>
          <a:noFill/>
          <a:ln w="9525"/>
        </p:spPr>
        <p:txBody>
          <a:bodyPr lIns="96441" tIns="48220" rIns="96441" bIns="48220"/>
          <a:lstStyle/>
          <a:p>
            <a:endParaRPr lang="en-US"/>
          </a:p>
        </p:txBody>
      </p:sp>
    </p:spTree>
    <p:extLst>
      <p:ext uri="{BB962C8B-B14F-4D97-AF65-F5344CB8AC3E}">
        <p14:creationId xmlns:p14="http://schemas.microsoft.com/office/powerpoint/2010/main" val="663688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E936A-A085-81FB-7D97-AB8E829FBD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85767-5609-FB75-C121-FF4F52B03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D9546E-48D7-B42E-FDA7-0563C504034D}"/>
              </a:ext>
            </a:extLst>
          </p:cNvPr>
          <p:cNvSpPr>
            <a:spLocks noGrp="1"/>
          </p:cNvSpPr>
          <p:nvPr>
            <p:ph type="body" idx="1"/>
          </p:nvPr>
        </p:nvSpPr>
        <p:spPr/>
        <p:txBody>
          <a:bodyPr/>
          <a:lstStyle/>
          <a:p>
            <a:endParaRPr lang="en-SE"/>
          </a:p>
        </p:txBody>
      </p:sp>
      <p:sp>
        <p:nvSpPr>
          <p:cNvPr id="4" name="Slide Number Placeholder 3">
            <a:extLst>
              <a:ext uri="{FF2B5EF4-FFF2-40B4-BE49-F238E27FC236}">
                <a16:creationId xmlns:a16="http://schemas.microsoft.com/office/drawing/2014/main" id="{1C753C5A-EE09-412C-D25E-2FC1CD69349E}"/>
              </a:ext>
            </a:extLst>
          </p:cNvPr>
          <p:cNvSpPr>
            <a:spLocks noGrp="1"/>
          </p:cNvSpPr>
          <p:nvPr>
            <p:ph type="sldNum" sz="quarter" idx="5"/>
          </p:nvPr>
        </p:nvSpPr>
        <p:spPr/>
        <p:txBody>
          <a:bodyPr/>
          <a:lstStyle/>
          <a:p>
            <a:fld id="{F853E634-D890-1041-AF39-141A2CE22555}" type="slidenum">
              <a:rPr lang="en-US" smtClean="0"/>
              <a:t>51</a:t>
            </a:fld>
            <a:endParaRPr lang="en-US"/>
          </a:p>
        </p:txBody>
      </p:sp>
    </p:spTree>
    <p:extLst>
      <p:ext uri="{BB962C8B-B14F-4D97-AF65-F5344CB8AC3E}">
        <p14:creationId xmlns:p14="http://schemas.microsoft.com/office/powerpoint/2010/main" val="1293440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E9FAB-D4FD-73A2-9B10-1876CE2E3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78E1C-7E6F-C503-243A-E33999E318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6C3D83-4966-3088-7CDB-C82109E5BF22}"/>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FEF8E328-54FE-D8BC-6B8F-F6874D239AFA}"/>
              </a:ext>
            </a:extLst>
          </p:cNvPr>
          <p:cNvSpPr>
            <a:spLocks noGrp="1"/>
          </p:cNvSpPr>
          <p:nvPr>
            <p:ph type="sldNum" sz="quarter" idx="5"/>
          </p:nvPr>
        </p:nvSpPr>
        <p:spPr/>
        <p:txBody>
          <a:bodyPr/>
          <a:lstStyle/>
          <a:p>
            <a:fld id="{F853E634-D890-1041-AF39-141A2CE22555}" type="slidenum">
              <a:rPr lang="en-US" smtClean="0"/>
              <a:t>52</a:t>
            </a:fld>
            <a:endParaRPr lang="en-US"/>
          </a:p>
        </p:txBody>
      </p:sp>
    </p:spTree>
    <p:extLst>
      <p:ext uri="{BB962C8B-B14F-4D97-AF65-F5344CB8AC3E}">
        <p14:creationId xmlns:p14="http://schemas.microsoft.com/office/powerpoint/2010/main" val="40764709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AD85C-00ED-0E3F-1761-DABD077F2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11727-9779-2138-895C-7815BBA94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9C5199-E51E-F503-2B1C-6D480184DF19}"/>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C153AD17-3CF2-737E-716E-C93DCC3ADD30}"/>
              </a:ext>
            </a:extLst>
          </p:cNvPr>
          <p:cNvSpPr>
            <a:spLocks noGrp="1"/>
          </p:cNvSpPr>
          <p:nvPr>
            <p:ph type="sldNum" sz="quarter" idx="5"/>
          </p:nvPr>
        </p:nvSpPr>
        <p:spPr/>
        <p:txBody>
          <a:bodyPr/>
          <a:lstStyle/>
          <a:p>
            <a:fld id="{F853E634-D890-1041-AF39-141A2CE22555}" type="slidenum">
              <a:rPr lang="en-US" smtClean="0"/>
              <a:t>53</a:t>
            </a:fld>
            <a:endParaRPr lang="en-US"/>
          </a:p>
        </p:txBody>
      </p:sp>
    </p:spTree>
    <p:extLst>
      <p:ext uri="{BB962C8B-B14F-4D97-AF65-F5344CB8AC3E}">
        <p14:creationId xmlns:p14="http://schemas.microsoft.com/office/powerpoint/2010/main" val="24082670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0F912-C374-D516-65D5-203AC24AA1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4F844D-A805-2D48-538E-3F6F4F1D5E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22DC70-5582-F779-01E0-11509584320B}"/>
              </a:ext>
            </a:extLst>
          </p:cNvPr>
          <p:cNvSpPr>
            <a:spLocks noGrp="1"/>
          </p:cNvSpPr>
          <p:nvPr>
            <p:ph type="body" idx="1"/>
          </p:nvPr>
        </p:nvSpPr>
        <p:spPr/>
        <p:txBody>
          <a:bodyPr/>
          <a:lstStyle/>
          <a:p>
            <a:endParaRPr lang="en-SE" dirty="0"/>
          </a:p>
        </p:txBody>
      </p:sp>
      <p:sp>
        <p:nvSpPr>
          <p:cNvPr id="4" name="Slide Number Placeholder 3">
            <a:extLst>
              <a:ext uri="{FF2B5EF4-FFF2-40B4-BE49-F238E27FC236}">
                <a16:creationId xmlns:a16="http://schemas.microsoft.com/office/drawing/2014/main" id="{0EF67013-3657-CC04-BD23-6B6A5BAB399F}"/>
              </a:ext>
            </a:extLst>
          </p:cNvPr>
          <p:cNvSpPr>
            <a:spLocks noGrp="1"/>
          </p:cNvSpPr>
          <p:nvPr>
            <p:ph type="sldNum" sz="quarter" idx="5"/>
          </p:nvPr>
        </p:nvSpPr>
        <p:spPr/>
        <p:txBody>
          <a:bodyPr/>
          <a:lstStyle/>
          <a:p>
            <a:fld id="{F853E634-D890-1041-AF39-141A2CE22555}" type="slidenum">
              <a:rPr lang="en-US" smtClean="0"/>
              <a:t>54</a:t>
            </a:fld>
            <a:endParaRPr lang="en-US"/>
          </a:p>
        </p:txBody>
      </p:sp>
    </p:spTree>
    <p:extLst>
      <p:ext uri="{BB962C8B-B14F-4D97-AF65-F5344CB8AC3E}">
        <p14:creationId xmlns:p14="http://schemas.microsoft.com/office/powerpoint/2010/main" val="9427784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 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A3187-68B4-DC4E-8270-F8C9982E27D8}"/>
              </a:ext>
            </a:extLst>
          </p:cNvPr>
          <p:cNvSpPr>
            <a:spLocks noGrp="1"/>
          </p:cNvSpPr>
          <p:nvPr>
            <p:ph type="ctrTitle"/>
          </p:nvPr>
        </p:nvSpPr>
        <p:spPr>
          <a:xfrm>
            <a:off x="2209800" y="2060575"/>
            <a:ext cx="9144000" cy="2237291"/>
          </a:xfrm>
          <a:prstGeom prst="rect">
            <a:avLst/>
          </a:prstGeom>
        </p:spPr>
        <p:txBody>
          <a:bodyPr anchor="t" anchorCtr="0"/>
          <a:lstStyle>
            <a:lvl1pPr algn="r">
              <a:defRPr sz="4800" b="1">
                <a:solidFill>
                  <a:schemeClr val="bg1"/>
                </a:solidFill>
                <a:latin typeface="+mj-lt"/>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9CD93A6C-FEA1-1244-999B-550BF558497B}"/>
              </a:ext>
            </a:extLst>
          </p:cNvPr>
          <p:cNvSpPr>
            <a:spLocks noGrp="1"/>
          </p:cNvSpPr>
          <p:nvPr>
            <p:ph type="subTitle" idx="1"/>
          </p:nvPr>
        </p:nvSpPr>
        <p:spPr>
          <a:xfrm>
            <a:off x="2209800" y="4450104"/>
            <a:ext cx="9144000" cy="930244"/>
          </a:xfrm>
        </p:spPr>
        <p:txBody>
          <a:bodyPr/>
          <a:lstStyle>
            <a:lvl1pPr marL="0" indent="0" algn="r">
              <a:buNone/>
              <a:defRPr sz="2400" b="0" i="0">
                <a:ln>
                  <a:noFill/>
                </a:ln>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Tree>
    <p:extLst>
      <p:ext uri="{BB962C8B-B14F-4D97-AF65-F5344CB8AC3E}">
        <p14:creationId xmlns:p14="http://schemas.microsoft.com/office/powerpoint/2010/main" val="247648952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 Section divider smal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7239EBF3-A304-F04E-8342-F357FC8743A4}"/>
              </a:ext>
            </a:extLst>
          </p:cNvPr>
          <p:cNvSpPr>
            <a:spLocks noGrp="1"/>
          </p:cNvSpPr>
          <p:nvPr>
            <p:ph type="body" sz="quarter" idx="11" hasCustomPrompt="1"/>
          </p:nvPr>
        </p:nvSpPr>
        <p:spPr>
          <a:xfrm>
            <a:off x="3794760" y="2060575"/>
            <a:ext cx="7557452" cy="1992951"/>
          </a:xfrm>
        </p:spPr>
        <p:txBody>
          <a:bodyPr>
            <a:normAutofit/>
          </a:bodyPr>
          <a:lstStyle>
            <a:lvl1pPr marL="0" indent="0" algn="r">
              <a:buNone/>
              <a:defRPr sz="4800" b="1">
                <a:latin typeface="+mj-lt"/>
              </a:defRPr>
            </a:lvl1pPr>
          </a:lstStyle>
          <a:p>
            <a:pPr lvl="0"/>
            <a:r>
              <a:rPr lang="en-US" dirty="0"/>
              <a:t>Section divider</a:t>
            </a:r>
          </a:p>
        </p:txBody>
      </p:sp>
      <p:sp>
        <p:nvSpPr>
          <p:cNvPr id="11" name="Text Placeholder 10">
            <a:extLst>
              <a:ext uri="{FF2B5EF4-FFF2-40B4-BE49-F238E27FC236}">
                <a16:creationId xmlns:a16="http://schemas.microsoft.com/office/drawing/2014/main" id="{1DF027CF-36A4-7546-9746-B0EB00F2F8E8}"/>
              </a:ext>
            </a:extLst>
          </p:cNvPr>
          <p:cNvSpPr>
            <a:spLocks noGrp="1"/>
          </p:cNvSpPr>
          <p:nvPr>
            <p:ph type="body" sz="quarter" idx="12" hasCustomPrompt="1"/>
          </p:nvPr>
        </p:nvSpPr>
        <p:spPr>
          <a:xfrm>
            <a:off x="3794759" y="4437063"/>
            <a:ext cx="7557453" cy="738187"/>
          </a:xfrm>
        </p:spPr>
        <p:txBody>
          <a:bodyPr>
            <a:normAutofit/>
          </a:bodyPr>
          <a:lstStyle>
            <a:lvl1pPr marL="0" indent="0" algn="r">
              <a:buNone/>
              <a:defRPr sz="3200">
                <a:latin typeface="+mj-lt"/>
              </a:defRPr>
            </a:lvl1pPr>
            <a:lvl2pPr algn="r">
              <a:defRPr/>
            </a:lvl2pPr>
            <a:lvl3pPr algn="r">
              <a:defRPr/>
            </a:lvl3pPr>
            <a:lvl4pPr algn="r">
              <a:defRPr/>
            </a:lvl4pPr>
            <a:lvl5pPr algn="r">
              <a:defRPr/>
            </a:lvl5pPr>
          </a:lstStyle>
          <a:p>
            <a:pPr lvl="0"/>
            <a:r>
              <a:rPr lang="en-US" dirty="0"/>
              <a:t>Subtitle</a:t>
            </a:r>
          </a:p>
        </p:txBody>
      </p:sp>
    </p:spTree>
    <p:extLst>
      <p:ext uri="{BB962C8B-B14F-4D97-AF65-F5344CB8AC3E}">
        <p14:creationId xmlns:p14="http://schemas.microsoft.com/office/powerpoint/2010/main" val="297612667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 Blank slid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DB84069-3119-6B4C-821D-3C2018FEF559}"/>
              </a:ext>
            </a:extLst>
          </p:cNvPr>
          <p:cNvSpPr>
            <a:spLocks noGrp="1"/>
          </p:cNvSpPr>
          <p:nvPr>
            <p:ph type="ftr" sz="quarter" idx="11"/>
          </p:nvPr>
        </p:nvSpPr>
        <p:spPr/>
        <p:txBody>
          <a:bodyPr/>
          <a:lstStyle/>
          <a:p>
            <a:r>
              <a:rPr lang="en-US" dirty="0"/>
              <a:t>Mergers, MBOs &amp; Other Corp. Reorgs. // Yannelis</a:t>
            </a:r>
          </a:p>
        </p:txBody>
      </p:sp>
      <p:sp>
        <p:nvSpPr>
          <p:cNvPr id="9" name="Title 1">
            <a:extLst>
              <a:ext uri="{FF2B5EF4-FFF2-40B4-BE49-F238E27FC236}">
                <a16:creationId xmlns:a16="http://schemas.microsoft.com/office/drawing/2014/main" id="{1D2DE192-AF76-A84C-982C-D8F941152791}"/>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GB" dirty="0"/>
              <a:t>Click to edit Master title style</a:t>
            </a:r>
            <a:endParaRPr lang="en-US" dirty="0"/>
          </a:p>
        </p:txBody>
      </p:sp>
      <p:sp>
        <p:nvSpPr>
          <p:cNvPr id="10" name="Text Placeholder 2">
            <a:extLst>
              <a:ext uri="{FF2B5EF4-FFF2-40B4-BE49-F238E27FC236}">
                <a16:creationId xmlns:a16="http://schemas.microsoft.com/office/drawing/2014/main" id="{D681F134-00E6-BF4B-BE6F-46F8D4DF2B01}"/>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GB"/>
              <a:t>Click to edit Master text styles</a:t>
            </a:r>
          </a:p>
        </p:txBody>
      </p:sp>
    </p:spTree>
    <p:extLst>
      <p:ext uri="{BB962C8B-B14F-4D97-AF65-F5344CB8AC3E}">
        <p14:creationId xmlns:p14="http://schemas.microsoft.com/office/powerpoint/2010/main" val="2741128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4 Title and content ">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DB84069-3119-6B4C-821D-3C2018FEF559}"/>
              </a:ext>
            </a:extLst>
          </p:cNvPr>
          <p:cNvSpPr>
            <a:spLocks noGrp="1"/>
          </p:cNvSpPr>
          <p:nvPr>
            <p:ph type="ftr" sz="quarter" idx="11"/>
          </p:nvPr>
        </p:nvSpPr>
        <p:spPr/>
        <p:txBody>
          <a:bodyPr/>
          <a:lstStyle/>
          <a:p>
            <a:r>
              <a:rPr lang="en-US" dirty="0"/>
              <a:t>Mergers, MBOs &amp; Other Corp. Reorgs. // Constantine Yannelis</a:t>
            </a:r>
          </a:p>
        </p:txBody>
      </p:sp>
      <p:sp>
        <p:nvSpPr>
          <p:cNvPr id="7" name="Text Placeholder 6">
            <a:extLst>
              <a:ext uri="{FF2B5EF4-FFF2-40B4-BE49-F238E27FC236}">
                <a16:creationId xmlns:a16="http://schemas.microsoft.com/office/drawing/2014/main" id="{A0946596-E589-F841-B981-52B93611944C}"/>
              </a:ext>
            </a:extLst>
          </p:cNvPr>
          <p:cNvSpPr>
            <a:spLocks noGrp="1"/>
          </p:cNvSpPr>
          <p:nvPr>
            <p:ph type="body" sz="quarter" idx="14"/>
          </p:nvPr>
        </p:nvSpPr>
        <p:spPr>
          <a:xfrm>
            <a:off x="407988" y="1268413"/>
            <a:ext cx="10944225" cy="4897437"/>
          </a:xfrm>
        </p:spPr>
        <p:txBody>
          <a:bodyPr lIns="0" tIns="72000" rIns="0" bIns="72000" numCol="1" spcCol="360000">
            <a:normAutofit/>
          </a:bodyPr>
          <a:lstStyle>
            <a:lvl1pPr marL="0" indent="0">
              <a:buNone/>
              <a:defRPr sz="1600">
                <a:solidFill>
                  <a:schemeClr val="tx2"/>
                </a:solidFill>
              </a:defRPr>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Click to edit Master text styles</a:t>
            </a:r>
          </a:p>
        </p:txBody>
      </p:sp>
      <p:sp>
        <p:nvSpPr>
          <p:cNvPr id="12" name="Title 1">
            <a:extLst>
              <a:ext uri="{FF2B5EF4-FFF2-40B4-BE49-F238E27FC236}">
                <a16:creationId xmlns:a16="http://schemas.microsoft.com/office/drawing/2014/main" id="{E8DE5C75-2CE1-6E4F-90A0-4170955CB8CE}"/>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GB"/>
              <a:t>Click to edit Master title style</a:t>
            </a:r>
            <a:endParaRPr lang="en-US" dirty="0"/>
          </a:p>
        </p:txBody>
      </p:sp>
      <p:sp>
        <p:nvSpPr>
          <p:cNvPr id="13" name="Text Placeholder 2">
            <a:extLst>
              <a:ext uri="{FF2B5EF4-FFF2-40B4-BE49-F238E27FC236}">
                <a16:creationId xmlns:a16="http://schemas.microsoft.com/office/drawing/2014/main" id="{8CD8E9BA-D352-3143-85E4-AB805A2C28DB}"/>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GB"/>
              <a:t>Click to edit Master text styles</a:t>
            </a:r>
          </a:p>
        </p:txBody>
      </p:sp>
    </p:spTree>
    <p:extLst>
      <p:ext uri="{BB962C8B-B14F-4D97-AF65-F5344CB8AC3E}">
        <p14:creationId xmlns:p14="http://schemas.microsoft.com/office/powerpoint/2010/main" val="13406282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5 Title and bullets content ">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DB84069-3119-6B4C-821D-3C2018FEF559}"/>
              </a:ext>
            </a:extLst>
          </p:cNvPr>
          <p:cNvSpPr>
            <a:spLocks noGrp="1"/>
          </p:cNvSpPr>
          <p:nvPr>
            <p:ph type="ftr" sz="quarter" idx="11"/>
          </p:nvPr>
        </p:nvSpPr>
        <p:spPr/>
        <p:txBody>
          <a:bodyPr/>
          <a:lstStyle/>
          <a:p>
            <a:r>
              <a:rPr lang="en-US" dirty="0"/>
              <a:t>Mergers, MBOs &amp; Other Corp. Reorgs. // Constantine Yannelis</a:t>
            </a:r>
          </a:p>
        </p:txBody>
      </p:sp>
      <p:sp>
        <p:nvSpPr>
          <p:cNvPr id="12" name="Title 1">
            <a:extLst>
              <a:ext uri="{FF2B5EF4-FFF2-40B4-BE49-F238E27FC236}">
                <a16:creationId xmlns:a16="http://schemas.microsoft.com/office/drawing/2014/main" id="{0B0295C9-1AD1-324E-B5FE-BDEC825AFCA6}"/>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GB"/>
              <a:t>Click to edit Master title style</a:t>
            </a:r>
            <a:endParaRPr lang="en-US" dirty="0"/>
          </a:p>
        </p:txBody>
      </p:sp>
      <p:sp>
        <p:nvSpPr>
          <p:cNvPr id="13" name="Text Placeholder 2">
            <a:extLst>
              <a:ext uri="{FF2B5EF4-FFF2-40B4-BE49-F238E27FC236}">
                <a16:creationId xmlns:a16="http://schemas.microsoft.com/office/drawing/2014/main" id="{C2008BAE-FDB4-1041-9A3F-DD7CF1248BE7}"/>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GB"/>
              <a:t>Click to edit Master text styles</a:t>
            </a:r>
          </a:p>
        </p:txBody>
      </p:sp>
      <p:sp>
        <p:nvSpPr>
          <p:cNvPr id="14" name="Text Placeholder 6">
            <a:extLst>
              <a:ext uri="{FF2B5EF4-FFF2-40B4-BE49-F238E27FC236}">
                <a16:creationId xmlns:a16="http://schemas.microsoft.com/office/drawing/2014/main" id="{E3E711A2-8079-A94C-A4C6-85D381809726}"/>
              </a:ext>
            </a:extLst>
          </p:cNvPr>
          <p:cNvSpPr>
            <a:spLocks noGrp="1"/>
          </p:cNvSpPr>
          <p:nvPr>
            <p:ph type="body" sz="quarter" idx="14"/>
          </p:nvPr>
        </p:nvSpPr>
        <p:spPr>
          <a:xfrm>
            <a:off x="407988" y="1268413"/>
            <a:ext cx="10944225" cy="4897437"/>
          </a:xfrm>
        </p:spPr>
        <p:txBody>
          <a:bodyPr lIns="0" tIns="72000" rIns="0" bIns="72000" numCol="1" spcCol="360000">
            <a:normAutofit/>
          </a:bodyPr>
          <a:lstStyle>
            <a:lvl1pPr marL="285750" indent="-285750">
              <a:buFont typeface="Courier New" panose="02070309020205020404" pitchFamily="49" charset="0"/>
              <a:buChar char="o"/>
              <a:defRPr sz="2000"/>
            </a:lvl1pPr>
            <a:lvl2pPr marL="457200" indent="0">
              <a:buNone/>
              <a:defRPr sz="1200"/>
            </a:lvl2pPr>
            <a:lvl3pPr marL="914400" indent="0">
              <a:buNone/>
              <a:defRPr sz="1200"/>
            </a:lvl3pPr>
            <a:lvl4pPr marL="1371600" indent="0">
              <a:buNone/>
              <a:defRPr sz="1200"/>
            </a:lvl4pPr>
            <a:lvl5pPr marL="1828800" indent="0">
              <a:buNone/>
              <a:defRPr sz="1200"/>
            </a:lvl5pPr>
          </a:lstStyle>
          <a:p>
            <a:pPr lvl="0"/>
            <a:r>
              <a:rPr lang="en-GB"/>
              <a:t>Click to edit Master text styles</a:t>
            </a:r>
          </a:p>
        </p:txBody>
      </p:sp>
    </p:spTree>
    <p:extLst>
      <p:ext uri="{BB962C8B-B14F-4D97-AF65-F5344CB8AC3E}">
        <p14:creationId xmlns:p14="http://schemas.microsoft.com/office/powerpoint/2010/main" val="3685211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53B81F-8947-7943-9391-E3BF0FB541FE}"/>
              </a:ext>
            </a:extLst>
          </p:cNvPr>
          <p:cNvSpPr>
            <a:spLocks noGrp="1"/>
          </p:cNvSpPr>
          <p:nvPr>
            <p:ph idx="1"/>
          </p:nvPr>
        </p:nvSpPr>
        <p:spPr>
          <a:xfrm>
            <a:off x="407988" y="1268413"/>
            <a:ext cx="10945812" cy="4897437"/>
          </a:xfrm>
        </p:spPr>
        <p:txBody>
          <a:bodyPr lIns="0" tIns="72000" rIns="0" bIns="72000">
            <a:normAutofit/>
          </a:bodyPr>
          <a:lstStyle>
            <a:lvl1pPr marL="0" indent="0">
              <a:buNone/>
              <a:defRPr sz="2000">
                <a:latin typeface="+mn-lt"/>
              </a:defRPr>
            </a:lvl1pPr>
            <a:lvl2pPr marL="457200" indent="0">
              <a:buNone/>
              <a:defRPr sz="1200">
                <a:latin typeface="+mn-lt"/>
              </a:defRPr>
            </a:lvl2pPr>
            <a:lvl3pPr marL="914400" indent="0">
              <a:buNone/>
              <a:defRPr sz="1200">
                <a:latin typeface="+mn-lt"/>
              </a:defRPr>
            </a:lvl3pPr>
            <a:lvl4pPr marL="1371600" indent="0">
              <a:buNone/>
              <a:defRPr sz="1200">
                <a:latin typeface="+mn-lt"/>
              </a:defRPr>
            </a:lvl4pPr>
            <a:lvl5pPr marL="1828800" indent="0">
              <a:buNone/>
              <a:defRPr sz="1200">
                <a:latin typeface="+mn-lt"/>
              </a:defRPr>
            </a:lvl5pPr>
            <a:lvl6pPr marL="2286000" indent="0">
              <a:buNone/>
              <a:defRPr sz="1200">
                <a:latin typeface="+mn-lt"/>
              </a:defRPr>
            </a:lvl6pPr>
          </a:lstStyle>
          <a:p>
            <a:pPr lvl="0"/>
            <a:r>
              <a:rPr lang="en-GB"/>
              <a:t>Click to edit Master text styles</a:t>
            </a:r>
          </a:p>
        </p:txBody>
      </p:sp>
      <p:sp>
        <p:nvSpPr>
          <p:cNvPr id="5" name="Footer Placeholder 4">
            <a:extLst>
              <a:ext uri="{FF2B5EF4-FFF2-40B4-BE49-F238E27FC236}">
                <a16:creationId xmlns:a16="http://schemas.microsoft.com/office/drawing/2014/main" id="{2B6F1863-FE2B-3847-B8BE-AA19C95F62FC}"/>
              </a:ext>
            </a:extLst>
          </p:cNvPr>
          <p:cNvSpPr>
            <a:spLocks noGrp="1"/>
          </p:cNvSpPr>
          <p:nvPr>
            <p:ph type="ftr" sz="quarter" idx="11"/>
          </p:nvPr>
        </p:nvSpPr>
        <p:spPr/>
        <p:txBody>
          <a:bodyPr/>
          <a:lstStyle/>
          <a:p>
            <a:r>
              <a:rPr lang="en-US" dirty="0"/>
              <a:t>Mergers, MBOs &amp; Other Corp. Reorgs. // Constantine Yannelis</a:t>
            </a:r>
          </a:p>
        </p:txBody>
      </p:sp>
      <p:sp>
        <p:nvSpPr>
          <p:cNvPr id="11" name="Title 1">
            <a:extLst>
              <a:ext uri="{FF2B5EF4-FFF2-40B4-BE49-F238E27FC236}">
                <a16:creationId xmlns:a16="http://schemas.microsoft.com/office/drawing/2014/main" id="{E3A5930E-8D75-AA4A-B6D8-DE63A7CFE8B8}"/>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GB" dirty="0"/>
              <a:t>Click to edit Master title style</a:t>
            </a:r>
            <a:endParaRPr lang="en-US" dirty="0"/>
          </a:p>
        </p:txBody>
      </p:sp>
      <p:sp>
        <p:nvSpPr>
          <p:cNvPr id="12" name="Text Placeholder 2">
            <a:extLst>
              <a:ext uri="{FF2B5EF4-FFF2-40B4-BE49-F238E27FC236}">
                <a16:creationId xmlns:a16="http://schemas.microsoft.com/office/drawing/2014/main" id="{800D5514-CA9E-CA4D-9B5E-C5C6E1ACFF9A}"/>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GB"/>
              <a:t>Click to edit Master text styles</a:t>
            </a:r>
          </a:p>
        </p:txBody>
      </p:sp>
    </p:spTree>
    <p:extLst>
      <p:ext uri="{BB962C8B-B14F-4D97-AF65-F5344CB8AC3E}">
        <p14:creationId xmlns:p14="http://schemas.microsoft.com/office/powerpoint/2010/main" val="1608413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7 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900E96-188B-0C4B-87FF-DACD057604D1}"/>
              </a:ext>
            </a:extLst>
          </p:cNvPr>
          <p:cNvSpPr>
            <a:spLocks noGrp="1"/>
          </p:cNvSpPr>
          <p:nvPr>
            <p:ph sz="half" idx="1"/>
          </p:nvPr>
        </p:nvSpPr>
        <p:spPr>
          <a:xfrm>
            <a:off x="407988" y="1268413"/>
            <a:ext cx="5400000" cy="4897437"/>
          </a:xfrm>
        </p:spPr>
        <p:txBody>
          <a:bodyPr/>
          <a:lstStyle>
            <a:lvl1pPr>
              <a:defRPr/>
            </a:lvl1pPr>
            <a:lvl2pPr>
              <a:defRPr/>
            </a:lvl2pPr>
            <a:lvl3pPr>
              <a:defRPr/>
            </a:lvl3pPr>
            <a:lvl4pPr>
              <a:defRPr/>
            </a:lvl4pPr>
            <a:lvl5pPr>
              <a:defRPr/>
            </a:lvl5pPr>
            <a:lvl6pPr>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a:extLst>
              <a:ext uri="{FF2B5EF4-FFF2-40B4-BE49-F238E27FC236}">
                <a16:creationId xmlns:a16="http://schemas.microsoft.com/office/drawing/2014/main" id="{0DCE236E-06BC-E04B-ADA3-6884696732FE}"/>
              </a:ext>
            </a:extLst>
          </p:cNvPr>
          <p:cNvSpPr>
            <a:spLocks noGrp="1"/>
          </p:cNvSpPr>
          <p:nvPr>
            <p:ph sz="half" idx="2"/>
          </p:nvPr>
        </p:nvSpPr>
        <p:spPr>
          <a:xfrm>
            <a:off x="5948263" y="1268413"/>
            <a:ext cx="5400000" cy="4897437"/>
          </a:xfrm>
        </p:spPr>
        <p:txBody>
          <a:bodyPr/>
          <a:lstStyle>
            <a:lvl1pPr>
              <a:defRPr/>
            </a:lvl1pPr>
            <a:lvl2pPr>
              <a:defRPr/>
            </a:lvl2pPr>
            <a:lvl3pPr>
              <a:defRPr/>
            </a:lvl3pPr>
            <a:lvl4pPr>
              <a:defRPr/>
            </a:lvl4pPr>
            <a:lvl5pPr>
              <a:defRPr/>
            </a:lvl5pPr>
            <a:lvl6pPr>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Footer Placeholder 5">
            <a:extLst>
              <a:ext uri="{FF2B5EF4-FFF2-40B4-BE49-F238E27FC236}">
                <a16:creationId xmlns:a16="http://schemas.microsoft.com/office/drawing/2014/main" id="{1CB147C2-C695-A744-8D7E-823C9A35C38D}"/>
              </a:ext>
            </a:extLst>
          </p:cNvPr>
          <p:cNvSpPr>
            <a:spLocks noGrp="1"/>
          </p:cNvSpPr>
          <p:nvPr>
            <p:ph type="ftr" sz="quarter" idx="11"/>
          </p:nvPr>
        </p:nvSpPr>
        <p:spPr/>
        <p:txBody>
          <a:bodyPr/>
          <a:lstStyle/>
          <a:p>
            <a:r>
              <a:rPr lang="en-US" dirty="0"/>
              <a:t>Mergers, MBOs &amp; Other Corp. Reorgs. // Constantine Yannelis</a:t>
            </a:r>
          </a:p>
        </p:txBody>
      </p:sp>
      <p:sp>
        <p:nvSpPr>
          <p:cNvPr id="10" name="Title 1">
            <a:extLst>
              <a:ext uri="{FF2B5EF4-FFF2-40B4-BE49-F238E27FC236}">
                <a16:creationId xmlns:a16="http://schemas.microsoft.com/office/drawing/2014/main" id="{793775E9-5C01-1742-9953-68C840F10E1F}"/>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GB"/>
              <a:t>Click to edit Master title style</a:t>
            </a:r>
            <a:endParaRPr lang="en-US" dirty="0"/>
          </a:p>
        </p:txBody>
      </p:sp>
      <p:sp>
        <p:nvSpPr>
          <p:cNvPr id="13" name="Text Placeholder 2">
            <a:extLst>
              <a:ext uri="{FF2B5EF4-FFF2-40B4-BE49-F238E27FC236}">
                <a16:creationId xmlns:a16="http://schemas.microsoft.com/office/drawing/2014/main" id="{A63E2888-93BF-CD42-A0DA-0DFFDEA5BA2E}"/>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GB"/>
              <a:t>Click to edit Master text styles</a:t>
            </a:r>
          </a:p>
        </p:txBody>
      </p:sp>
    </p:spTree>
    <p:extLst>
      <p:ext uri="{BB962C8B-B14F-4D97-AF65-F5344CB8AC3E}">
        <p14:creationId xmlns:p14="http://schemas.microsoft.com/office/powerpoint/2010/main" val="1769940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8 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41B7143-21D9-DD48-BA3E-1227E17F979E}"/>
              </a:ext>
            </a:extLst>
          </p:cNvPr>
          <p:cNvSpPr>
            <a:spLocks noGrp="1"/>
          </p:cNvSpPr>
          <p:nvPr>
            <p:ph type="body" idx="1"/>
          </p:nvPr>
        </p:nvSpPr>
        <p:spPr>
          <a:xfrm>
            <a:off x="407988" y="1267199"/>
            <a:ext cx="5400000" cy="793375"/>
          </a:xfrm>
        </p:spPr>
        <p:txBody>
          <a:bodyPr anchor="t" anchorCtr="0"/>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9D17054-5FCF-D840-90F8-57B10759E7CE}"/>
              </a:ext>
            </a:extLst>
          </p:cNvPr>
          <p:cNvSpPr>
            <a:spLocks noGrp="1"/>
          </p:cNvSpPr>
          <p:nvPr>
            <p:ph sz="half" idx="2"/>
          </p:nvPr>
        </p:nvSpPr>
        <p:spPr>
          <a:xfrm>
            <a:off x="407988" y="2060575"/>
            <a:ext cx="5400000" cy="4105275"/>
          </a:xfrm>
        </p:spPr>
        <p:txBody>
          <a:bodyPr/>
          <a:lstStyle>
            <a:lvl1pPr>
              <a:defRPr/>
            </a:lvl1pPr>
            <a:lvl2pPr>
              <a:defRPr/>
            </a:lvl2pPr>
            <a:lvl3pPr>
              <a:defRPr/>
            </a:lvl3pPr>
            <a:lvl4pPr>
              <a:defRPr/>
            </a:lvl4pPr>
            <a:lvl5pPr>
              <a:defRPr/>
            </a:lvl5pPr>
            <a:lvl6pPr>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30B20495-9155-A445-81A0-0750077E8060}"/>
              </a:ext>
            </a:extLst>
          </p:cNvPr>
          <p:cNvSpPr>
            <a:spLocks noGrp="1"/>
          </p:cNvSpPr>
          <p:nvPr>
            <p:ph type="body" sz="quarter" idx="3"/>
          </p:nvPr>
        </p:nvSpPr>
        <p:spPr>
          <a:xfrm>
            <a:off x="5952213" y="1268413"/>
            <a:ext cx="5400000" cy="792161"/>
          </a:xfrm>
        </p:spPr>
        <p:txBody>
          <a:bodyPr anchor="t" anchorCtr="0"/>
          <a:lstStyle>
            <a:lvl1pPr marL="0" indent="0">
              <a:buNone/>
              <a:defRPr sz="24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179709A-9ADC-404E-AA36-BCB5A2FF6BB4}"/>
              </a:ext>
            </a:extLst>
          </p:cNvPr>
          <p:cNvSpPr>
            <a:spLocks noGrp="1"/>
          </p:cNvSpPr>
          <p:nvPr>
            <p:ph sz="quarter" idx="4"/>
          </p:nvPr>
        </p:nvSpPr>
        <p:spPr>
          <a:xfrm>
            <a:off x="5952213" y="2060575"/>
            <a:ext cx="5400000" cy="4105276"/>
          </a:xfrm>
        </p:spPr>
        <p:txBody>
          <a:bodyPr/>
          <a:lstStyle>
            <a:lvl1pPr>
              <a:defRPr/>
            </a:lvl1pPr>
            <a:lvl2pPr>
              <a:defRPr/>
            </a:lvl2pPr>
            <a:lvl3pPr>
              <a:defRPr/>
            </a:lvl3pPr>
            <a:lvl4pPr>
              <a:defRPr/>
            </a:lvl4pPr>
            <a:lvl5pPr>
              <a:defRPr/>
            </a:lvl5pPr>
            <a:lvl6pPr>
              <a:defRPr/>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Footer Placeholder 7">
            <a:extLst>
              <a:ext uri="{FF2B5EF4-FFF2-40B4-BE49-F238E27FC236}">
                <a16:creationId xmlns:a16="http://schemas.microsoft.com/office/drawing/2014/main" id="{F3AA263B-CB05-2941-B069-FCD1CBB1A3AC}"/>
              </a:ext>
            </a:extLst>
          </p:cNvPr>
          <p:cNvSpPr>
            <a:spLocks noGrp="1"/>
          </p:cNvSpPr>
          <p:nvPr>
            <p:ph type="ftr" sz="quarter" idx="11"/>
          </p:nvPr>
        </p:nvSpPr>
        <p:spPr/>
        <p:txBody>
          <a:bodyPr/>
          <a:lstStyle/>
          <a:p>
            <a:r>
              <a:rPr lang="en-US" dirty="0"/>
              <a:t>Mergers, MBOs &amp; Other Corp. Reorgs. // Constantine Yannelis</a:t>
            </a:r>
          </a:p>
        </p:txBody>
      </p:sp>
      <p:sp>
        <p:nvSpPr>
          <p:cNvPr id="14" name="Title 1">
            <a:extLst>
              <a:ext uri="{FF2B5EF4-FFF2-40B4-BE49-F238E27FC236}">
                <a16:creationId xmlns:a16="http://schemas.microsoft.com/office/drawing/2014/main" id="{BEB439C4-AE46-EA48-962B-C69136F408F1}"/>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GB"/>
              <a:t>Click to edit Master title style</a:t>
            </a:r>
            <a:endParaRPr lang="en-US" dirty="0"/>
          </a:p>
        </p:txBody>
      </p:sp>
      <p:sp>
        <p:nvSpPr>
          <p:cNvPr id="15" name="Text Placeholder 2">
            <a:extLst>
              <a:ext uri="{FF2B5EF4-FFF2-40B4-BE49-F238E27FC236}">
                <a16:creationId xmlns:a16="http://schemas.microsoft.com/office/drawing/2014/main" id="{8B228E1B-6D10-504C-BE9E-D808137DE53D}"/>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GB"/>
              <a:t>Click to edit Master text styles</a:t>
            </a:r>
          </a:p>
        </p:txBody>
      </p:sp>
    </p:spTree>
    <p:extLst>
      <p:ext uri="{BB962C8B-B14F-4D97-AF65-F5344CB8AC3E}">
        <p14:creationId xmlns:p14="http://schemas.microsoft.com/office/powerpoint/2010/main" val="954182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 Text with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207A45-310E-7848-A4D5-2A2EFCC9690E}"/>
              </a:ext>
            </a:extLst>
          </p:cNvPr>
          <p:cNvSpPr>
            <a:spLocks noGrp="1"/>
          </p:cNvSpPr>
          <p:nvPr>
            <p:ph type="pic" idx="1"/>
          </p:nvPr>
        </p:nvSpPr>
        <p:spPr>
          <a:xfrm>
            <a:off x="4953000" y="1268413"/>
            <a:ext cx="6402388" cy="45926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a:extLst>
              <a:ext uri="{FF2B5EF4-FFF2-40B4-BE49-F238E27FC236}">
                <a16:creationId xmlns:a16="http://schemas.microsoft.com/office/drawing/2014/main" id="{BF55737C-DB26-4D4E-BBC7-6B49B8234627}"/>
              </a:ext>
            </a:extLst>
          </p:cNvPr>
          <p:cNvSpPr>
            <a:spLocks noGrp="1"/>
          </p:cNvSpPr>
          <p:nvPr>
            <p:ph type="body" sz="half" idx="2"/>
          </p:nvPr>
        </p:nvSpPr>
        <p:spPr>
          <a:xfrm>
            <a:off x="407988" y="1268413"/>
            <a:ext cx="4364037" cy="46005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6" name="Footer Placeholder 5">
            <a:extLst>
              <a:ext uri="{FF2B5EF4-FFF2-40B4-BE49-F238E27FC236}">
                <a16:creationId xmlns:a16="http://schemas.microsoft.com/office/drawing/2014/main" id="{AEC7D52B-3DCD-EF40-A4E3-CA1E501CABEB}"/>
              </a:ext>
            </a:extLst>
          </p:cNvPr>
          <p:cNvSpPr>
            <a:spLocks noGrp="1"/>
          </p:cNvSpPr>
          <p:nvPr>
            <p:ph type="ftr" sz="quarter" idx="11"/>
          </p:nvPr>
        </p:nvSpPr>
        <p:spPr/>
        <p:txBody>
          <a:bodyPr/>
          <a:lstStyle/>
          <a:p>
            <a:r>
              <a:rPr lang="en-US" dirty="0"/>
              <a:t>Mergers, MBOs &amp; Other Corp. Reorgs. // Constantine Yannelis</a:t>
            </a:r>
          </a:p>
        </p:txBody>
      </p:sp>
      <p:sp>
        <p:nvSpPr>
          <p:cNvPr id="12" name="Title 1">
            <a:extLst>
              <a:ext uri="{FF2B5EF4-FFF2-40B4-BE49-F238E27FC236}">
                <a16:creationId xmlns:a16="http://schemas.microsoft.com/office/drawing/2014/main" id="{7FB86D5F-59B1-B04A-AD5E-C774658FE8BB}"/>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GB"/>
              <a:t>Click to edit Master title style</a:t>
            </a:r>
            <a:endParaRPr lang="en-US" dirty="0"/>
          </a:p>
        </p:txBody>
      </p:sp>
      <p:sp>
        <p:nvSpPr>
          <p:cNvPr id="13" name="Text Placeholder 2">
            <a:extLst>
              <a:ext uri="{FF2B5EF4-FFF2-40B4-BE49-F238E27FC236}">
                <a16:creationId xmlns:a16="http://schemas.microsoft.com/office/drawing/2014/main" id="{7226C25D-0963-C64B-A09E-D610F71F2FF9}"/>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GB"/>
              <a:t>Click to edit Master text styles</a:t>
            </a:r>
          </a:p>
        </p:txBody>
      </p:sp>
    </p:spTree>
    <p:extLst>
      <p:ext uri="{BB962C8B-B14F-4D97-AF65-F5344CB8AC3E}">
        <p14:creationId xmlns:p14="http://schemas.microsoft.com/office/powerpoint/2010/main" val="3158336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9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207A45-310E-7848-A4D5-2A2EFCC9690E}"/>
              </a:ext>
            </a:extLst>
          </p:cNvPr>
          <p:cNvSpPr>
            <a:spLocks noGrp="1"/>
          </p:cNvSpPr>
          <p:nvPr>
            <p:ph type="pic" idx="1"/>
          </p:nvPr>
        </p:nvSpPr>
        <p:spPr>
          <a:xfrm>
            <a:off x="4038600" y="1268413"/>
            <a:ext cx="7316788" cy="4897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6" name="Footer Placeholder 5">
            <a:extLst>
              <a:ext uri="{FF2B5EF4-FFF2-40B4-BE49-F238E27FC236}">
                <a16:creationId xmlns:a16="http://schemas.microsoft.com/office/drawing/2014/main" id="{AEC7D52B-3DCD-EF40-A4E3-CA1E501CA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30D948-197F-614F-A309-DA32460C6168}"/>
              </a:ext>
            </a:extLst>
          </p:cNvPr>
          <p:cNvSpPr>
            <a:spLocks noGrp="1"/>
          </p:cNvSpPr>
          <p:nvPr>
            <p:ph type="sldNum" sz="quarter" idx="12"/>
          </p:nvPr>
        </p:nvSpPr>
        <p:spPr>
          <a:xfrm>
            <a:off x="10885800" y="6303993"/>
            <a:ext cx="468000" cy="324000"/>
          </a:xfrm>
          <a:prstGeom prst="rect">
            <a:avLst/>
          </a:prstGeom>
        </p:spPr>
        <p:txBody>
          <a:bodyPr/>
          <a:lstStyle/>
          <a:p>
            <a:fld id="{F97EA6E0-ACB3-C744-814F-68814E5220CF}" type="slidenum">
              <a:rPr lang="en-US" smtClean="0"/>
              <a:t>‹#›</a:t>
            </a:fld>
            <a:endParaRPr lang="en-US"/>
          </a:p>
        </p:txBody>
      </p:sp>
      <p:sp>
        <p:nvSpPr>
          <p:cNvPr id="5" name="Text Placeholder 4">
            <a:extLst>
              <a:ext uri="{FF2B5EF4-FFF2-40B4-BE49-F238E27FC236}">
                <a16:creationId xmlns:a16="http://schemas.microsoft.com/office/drawing/2014/main" id="{2057ED0F-F0DC-EB44-96E7-F558F2DF5FA5}"/>
              </a:ext>
            </a:extLst>
          </p:cNvPr>
          <p:cNvSpPr>
            <a:spLocks noGrp="1"/>
          </p:cNvSpPr>
          <p:nvPr>
            <p:ph type="body" sz="quarter" idx="13"/>
          </p:nvPr>
        </p:nvSpPr>
        <p:spPr>
          <a:xfrm>
            <a:off x="407988" y="3429000"/>
            <a:ext cx="5043487" cy="1944688"/>
          </a:xfrm>
          <a:solidFill>
            <a:schemeClr val="tx1"/>
          </a:solidFill>
        </p:spPr>
        <p:txBody>
          <a:bodyPr lIns="180000" tIns="180000" rIns="216000" bIns="180000">
            <a:normAutofit/>
          </a:bodyPr>
          <a:lstStyle>
            <a:lvl1pPr marL="0" indent="0">
              <a:buNone/>
              <a:defRPr sz="1600" b="0">
                <a:solidFill>
                  <a:schemeClr val="bg1"/>
                </a:solidFill>
              </a:defRPr>
            </a:lvl1pPr>
            <a:lvl2pPr marL="457200" indent="0">
              <a:buNone/>
              <a:defRPr sz="1400" b="0">
                <a:solidFill>
                  <a:schemeClr val="bg1"/>
                </a:solidFill>
              </a:defRPr>
            </a:lvl2pPr>
            <a:lvl3pPr marL="914400" indent="0">
              <a:buNone/>
              <a:defRPr sz="1400" b="0">
                <a:solidFill>
                  <a:schemeClr val="bg1"/>
                </a:solidFill>
              </a:defRPr>
            </a:lvl3pPr>
            <a:lvl4pPr marL="1371600" indent="0">
              <a:buNone/>
              <a:defRPr sz="1400" b="0">
                <a:solidFill>
                  <a:schemeClr val="bg1"/>
                </a:solidFill>
              </a:defRPr>
            </a:lvl4pPr>
            <a:lvl5pPr marL="1828800" indent="0">
              <a:buNone/>
              <a:defRPr sz="1400" b="0">
                <a:solidFill>
                  <a:schemeClr val="bg1"/>
                </a:solidFill>
              </a:defRPr>
            </a:lvl5pPr>
          </a:lstStyle>
          <a:p>
            <a:pPr lvl="0"/>
            <a:r>
              <a:rPr lang="en-GB"/>
              <a:t>Click to edit Master text styles</a:t>
            </a:r>
          </a:p>
        </p:txBody>
      </p:sp>
      <p:sp>
        <p:nvSpPr>
          <p:cNvPr id="12" name="Title 1">
            <a:extLst>
              <a:ext uri="{FF2B5EF4-FFF2-40B4-BE49-F238E27FC236}">
                <a16:creationId xmlns:a16="http://schemas.microsoft.com/office/drawing/2014/main" id="{3273A7FC-4C2E-634F-8B82-4099E893253D}"/>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GB"/>
              <a:t>Click to edit Master title style</a:t>
            </a:r>
            <a:endParaRPr lang="en-US" dirty="0"/>
          </a:p>
        </p:txBody>
      </p:sp>
      <p:sp>
        <p:nvSpPr>
          <p:cNvPr id="13" name="Text Placeholder 2">
            <a:extLst>
              <a:ext uri="{FF2B5EF4-FFF2-40B4-BE49-F238E27FC236}">
                <a16:creationId xmlns:a16="http://schemas.microsoft.com/office/drawing/2014/main" id="{53D6BFBD-B673-5D4C-8261-A93781D42B01}"/>
              </a:ext>
            </a:extLst>
          </p:cNvPr>
          <p:cNvSpPr>
            <a:spLocks noGrp="1"/>
          </p:cNvSpPr>
          <p:nvPr>
            <p:ph type="body" sz="quarter" idx="14"/>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GB"/>
              <a:t>Click to edit Master text styles</a:t>
            </a:r>
          </a:p>
        </p:txBody>
      </p:sp>
    </p:spTree>
    <p:extLst>
      <p:ext uri="{BB962C8B-B14F-4D97-AF65-F5344CB8AC3E}">
        <p14:creationId xmlns:p14="http://schemas.microsoft.com/office/powerpoint/2010/main" val="313526669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1 Picture with caption">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799A8256-CD9F-3747-B6B0-7475B9649443}"/>
              </a:ext>
            </a:extLst>
          </p:cNvPr>
          <p:cNvSpPr>
            <a:spLocks noGrp="1"/>
          </p:cNvSpPr>
          <p:nvPr>
            <p:ph type="body" sz="quarter" idx="14"/>
          </p:nvPr>
        </p:nvSpPr>
        <p:spPr>
          <a:xfrm>
            <a:off x="407988" y="1268413"/>
            <a:ext cx="3629024" cy="4897437"/>
          </a:xfrm>
          <a:solidFill>
            <a:schemeClr val="bg2"/>
          </a:solidFill>
        </p:spPr>
        <p:txBody>
          <a:bodyPr lIns="180000" tIns="180000" rIns="216000" bIns="180000">
            <a:normAutofit/>
          </a:bodyPr>
          <a:lstStyle>
            <a:lvl1pPr marL="0" indent="0">
              <a:buNone/>
              <a:defRPr sz="1600" b="0">
                <a:solidFill>
                  <a:schemeClr val="tx1"/>
                </a:solidFill>
              </a:defRPr>
            </a:lvl1pPr>
            <a:lvl2pPr marL="457200" indent="0">
              <a:buNone/>
              <a:defRPr sz="1400" b="0">
                <a:solidFill>
                  <a:schemeClr val="bg1"/>
                </a:solidFill>
              </a:defRPr>
            </a:lvl2pPr>
            <a:lvl3pPr marL="914400" indent="0">
              <a:buNone/>
              <a:defRPr sz="1400" b="0">
                <a:solidFill>
                  <a:schemeClr val="bg1"/>
                </a:solidFill>
              </a:defRPr>
            </a:lvl3pPr>
            <a:lvl4pPr marL="1371600" indent="0">
              <a:buNone/>
              <a:defRPr sz="1400" b="0">
                <a:solidFill>
                  <a:schemeClr val="bg1"/>
                </a:solidFill>
              </a:defRPr>
            </a:lvl4pPr>
            <a:lvl5pPr marL="1828800" indent="0">
              <a:buNone/>
              <a:defRPr sz="1400" b="0">
                <a:solidFill>
                  <a:schemeClr val="bg1"/>
                </a:solidFill>
              </a:defRPr>
            </a:lvl5pPr>
          </a:lstStyle>
          <a:p>
            <a:pPr lvl="0"/>
            <a:r>
              <a:rPr lang="en-GB"/>
              <a:t>Click to edit Master text styles</a:t>
            </a:r>
          </a:p>
        </p:txBody>
      </p:sp>
      <p:sp>
        <p:nvSpPr>
          <p:cNvPr id="3" name="Picture Placeholder 2">
            <a:extLst>
              <a:ext uri="{FF2B5EF4-FFF2-40B4-BE49-F238E27FC236}">
                <a16:creationId xmlns:a16="http://schemas.microsoft.com/office/drawing/2014/main" id="{F9207A45-310E-7848-A4D5-2A2EFCC9690E}"/>
              </a:ext>
            </a:extLst>
          </p:cNvPr>
          <p:cNvSpPr>
            <a:spLocks noGrp="1"/>
          </p:cNvSpPr>
          <p:nvPr>
            <p:ph type="pic" idx="1"/>
          </p:nvPr>
        </p:nvSpPr>
        <p:spPr>
          <a:xfrm>
            <a:off x="4038600" y="1268413"/>
            <a:ext cx="7316788" cy="489743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6" name="Footer Placeholder 5">
            <a:extLst>
              <a:ext uri="{FF2B5EF4-FFF2-40B4-BE49-F238E27FC236}">
                <a16:creationId xmlns:a16="http://schemas.microsoft.com/office/drawing/2014/main" id="{AEC7D52B-3DCD-EF40-A4E3-CA1E501CA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30D948-197F-614F-A309-DA32460C6168}"/>
              </a:ext>
            </a:extLst>
          </p:cNvPr>
          <p:cNvSpPr>
            <a:spLocks noGrp="1"/>
          </p:cNvSpPr>
          <p:nvPr>
            <p:ph type="sldNum" sz="quarter" idx="12"/>
          </p:nvPr>
        </p:nvSpPr>
        <p:spPr>
          <a:xfrm>
            <a:off x="10885800" y="6303993"/>
            <a:ext cx="468000" cy="324000"/>
          </a:xfrm>
          <a:prstGeom prst="rect">
            <a:avLst/>
          </a:prstGeom>
        </p:spPr>
        <p:txBody>
          <a:bodyPr/>
          <a:lstStyle/>
          <a:p>
            <a:fld id="{F97EA6E0-ACB3-C744-814F-68814E5220CF}" type="slidenum">
              <a:rPr lang="en-US" smtClean="0"/>
              <a:t>‹#›</a:t>
            </a:fld>
            <a:endParaRPr lang="en-US"/>
          </a:p>
        </p:txBody>
      </p:sp>
      <p:sp>
        <p:nvSpPr>
          <p:cNvPr id="13" name="Title 1">
            <a:extLst>
              <a:ext uri="{FF2B5EF4-FFF2-40B4-BE49-F238E27FC236}">
                <a16:creationId xmlns:a16="http://schemas.microsoft.com/office/drawing/2014/main" id="{CCFE1F78-7A0F-794F-AB6C-561EAABA1FB4}"/>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GB"/>
              <a:t>Click to edit Master title style</a:t>
            </a:r>
            <a:endParaRPr lang="en-US" dirty="0"/>
          </a:p>
        </p:txBody>
      </p:sp>
      <p:sp>
        <p:nvSpPr>
          <p:cNvPr id="14" name="Text Placeholder 2">
            <a:extLst>
              <a:ext uri="{FF2B5EF4-FFF2-40B4-BE49-F238E27FC236}">
                <a16:creationId xmlns:a16="http://schemas.microsoft.com/office/drawing/2014/main" id="{0425F5BF-4477-AF4A-9A0B-DF5B5FC09AAE}"/>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GB"/>
              <a:t>Click to edit Master text styles</a:t>
            </a:r>
          </a:p>
        </p:txBody>
      </p:sp>
    </p:spTree>
    <p:extLst>
      <p:ext uri="{BB962C8B-B14F-4D97-AF65-F5344CB8AC3E}">
        <p14:creationId xmlns:p14="http://schemas.microsoft.com/office/powerpoint/2010/main" val="4131714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2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9207A45-310E-7848-A4D5-2A2EFCC9690E}"/>
              </a:ext>
            </a:extLst>
          </p:cNvPr>
          <p:cNvSpPr>
            <a:spLocks noGrp="1"/>
          </p:cNvSpPr>
          <p:nvPr>
            <p:ph type="pic" idx="1"/>
          </p:nvPr>
        </p:nvSpPr>
        <p:spPr>
          <a:xfrm>
            <a:off x="407988" y="2060574"/>
            <a:ext cx="10947400" cy="41052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9" name="Text Placeholder 4">
            <a:extLst>
              <a:ext uri="{FF2B5EF4-FFF2-40B4-BE49-F238E27FC236}">
                <a16:creationId xmlns:a16="http://schemas.microsoft.com/office/drawing/2014/main" id="{799A8256-CD9F-3747-B6B0-7475B9649443}"/>
              </a:ext>
            </a:extLst>
          </p:cNvPr>
          <p:cNvSpPr>
            <a:spLocks noGrp="1"/>
          </p:cNvSpPr>
          <p:nvPr>
            <p:ph type="body" sz="quarter" idx="14"/>
          </p:nvPr>
        </p:nvSpPr>
        <p:spPr>
          <a:xfrm>
            <a:off x="1779588" y="1268414"/>
            <a:ext cx="2743200" cy="4608512"/>
          </a:xfrm>
          <a:solidFill>
            <a:schemeClr val="tx1"/>
          </a:solidFill>
        </p:spPr>
        <p:txBody>
          <a:bodyPr lIns="180000" tIns="180000" rIns="216000" bIns="180000">
            <a:normAutofit/>
          </a:bodyPr>
          <a:lstStyle>
            <a:lvl1pPr marL="0" indent="0">
              <a:buNone/>
              <a:defRPr sz="1600" b="0">
                <a:solidFill>
                  <a:schemeClr val="bg1"/>
                </a:solidFill>
              </a:defRPr>
            </a:lvl1pPr>
            <a:lvl2pPr marL="457200" indent="0">
              <a:buNone/>
              <a:defRPr sz="1400" b="0">
                <a:solidFill>
                  <a:schemeClr val="bg1"/>
                </a:solidFill>
              </a:defRPr>
            </a:lvl2pPr>
            <a:lvl3pPr marL="914400" indent="0">
              <a:buNone/>
              <a:defRPr sz="1400" b="0">
                <a:solidFill>
                  <a:schemeClr val="bg1"/>
                </a:solidFill>
              </a:defRPr>
            </a:lvl3pPr>
            <a:lvl4pPr marL="1371600" indent="0">
              <a:buNone/>
              <a:defRPr sz="1400" b="0">
                <a:solidFill>
                  <a:schemeClr val="bg1"/>
                </a:solidFill>
              </a:defRPr>
            </a:lvl4pPr>
            <a:lvl5pPr marL="1828800" indent="0">
              <a:buNone/>
              <a:defRPr sz="1400" b="0">
                <a:solidFill>
                  <a:schemeClr val="bg1"/>
                </a:solidFill>
              </a:defRPr>
            </a:lvl5pPr>
          </a:lstStyle>
          <a:p>
            <a:pPr lvl="0"/>
            <a:r>
              <a:rPr lang="en-GB"/>
              <a:t>Click to edit Master text styles</a:t>
            </a:r>
          </a:p>
        </p:txBody>
      </p:sp>
      <p:sp>
        <p:nvSpPr>
          <p:cNvPr id="6" name="Footer Placeholder 5">
            <a:extLst>
              <a:ext uri="{FF2B5EF4-FFF2-40B4-BE49-F238E27FC236}">
                <a16:creationId xmlns:a16="http://schemas.microsoft.com/office/drawing/2014/main" id="{AEC7D52B-3DCD-EF40-A4E3-CA1E501CA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30D948-197F-614F-A309-DA32460C6168}"/>
              </a:ext>
            </a:extLst>
          </p:cNvPr>
          <p:cNvSpPr>
            <a:spLocks noGrp="1"/>
          </p:cNvSpPr>
          <p:nvPr>
            <p:ph type="sldNum" sz="quarter" idx="12"/>
          </p:nvPr>
        </p:nvSpPr>
        <p:spPr>
          <a:xfrm>
            <a:off x="10885800" y="6303993"/>
            <a:ext cx="468000" cy="324000"/>
          </a:xfrm>
          <a:prstGeom prst="rect">
            <a:avLst/>
          </a:prstGeom>
        </p:spPr>
        <p:txBody>
          <a:bodyPr/>
          <a:lstStyle/>
          <a:p>
            <a:fld id="{F97EA6E0-ACB3-C744-814F-68814E5220CF}" type="slidenum">
              <a:rPr lang="en-US" smtClean="0"/>
              <a:t>‹#›</a:t>
            </a:fld>
            <a:endParaRPr lang="en-US"/>
          </a:p>
        </p:txBody>
      </p:sp>
      <p:sp>
        <p:nvSpPr>
          <p:cNvPr id="13" name="Title 1">
            <a:extLst>
              <a:ext uri="{FF2B5EF4-FFF2-40B4-BE49-F238E27FC236}">
                <a16:creationId xmlns:a16="http://schemas.microsoft.com/office/drawing/2014/main" id="{FF4132E2-254F-334C-9E32-5FA47CD6EEE5}"/>
              </a:ext>
            </a:extLst>
          </p:cNvPr>
          <p:cNvSpPr>
            <a:spLocks noGrp="1"/>
          </p:cNvSpPr>
          <p:nvPr>
            <p:ph type="title"/>
          </p:nvPr>
        </p:nvSpPr>
        <p:spPr>
          <a:xfrm>
            <a:off x="3180213" y="383414"/>
            <a:ext cx="8172000" cy="396000"/>
          </a:xfrm>
          <a:prstGeom prst="rect">
            <a:avLst/>
          </a:prstGeom>
        </p:spPr>
        <p:txBody>
          <a:bodyPr lIns="90000" rIns="0"/>
          <a:lstStyle>
            <a:lvl1pPr algn="r">
              <a:defRPr sz="2000">
                <a:latin typeface="+mj-lt"/>
              </a:defRPr>
            </a:lvl1pPr>
          </a:lstStyle>
          <a:p>
            <a:r>
              <a:rPr lang="en-GB"/>
              <a:t>Click to edit Master title style</a:t>
            </a:r>
            <a:endParaRPr lang="en-US" dirty="0"/>
          </a:p>
        </p:txBody>
      </p:sp>
      <p:sp>
        <p:nvSpPr>
          <p:cNvPr id="14" name="Text Placeholder 2">
            <a:extLst>
              <a:ext uri="{FF2B5EF4-FFF2-40B4-BE49-F238E27FC236}">
                <a16:creationId xmlns:a16="http://schemas.microsoft.com/office/drawing/2014/main" id="{232D2696-58FB-C841-BA21-92367B8EB23C}"/>
              </a:ext>
            </a:extLst>
          </p:cNvPr>
          <p:cNvSpPr>
            <a:spLocks noGrp="1"/>
          </p:cNvSpPr>
          <p:nvPr>
            <p:ph type="body" sz="quarter" idx="13"/>
          </p:nvPr>
        </p:nvSpPr>
        <p:spPr>
          <a:xfrm>
            <a:off x="3176263" y="788272"/>
            <a:ext cx="8172000" cy="289161"/>
          </a:xfrm>
        </p:spPr>
        <p:txBody>
          <a:bodyPr rIns="0">
            <a:noAutofit/>
          </a:bodyPr>
          <a:lstStyle>
            <a:lvl1pPr marL="0" indent="0" algn="r">
              <a:buNone/>
              <a:defRPr sz="1600">
                <a:solidFill>
                  <a:schemeClr val="accent3"/>
                </a:solidFill>
                <a:latin typeface="+mj-lt"/>
              </a:defRPr>
            </a:lvl1pPr>
            <a:lvl2pPr marL="457200" indent="0" algn="r">
              <a:buNone/>
              <a:defRPr sz="1400"/>
            </a:lvl2pPr>
            <a:lvl3pPr marL="914400" indent="0" algn="r">
              <a:buNone/>
              <a:defRPr sz="1400"/>
            </a:lvl3pPr>
            <a:lvl4pPr marL="1371600" indent="0" algn="r">
              <a:buNone/>
              <a:defRPr sz="1400"/>
            </a:lvl4pPr>
            <a:lvl5pPr marL="1828800" indent="0" algn="r">
              <a:buNone/>
              <a:defRPr sz="1400"/>
            </a:lvl5pPr>
          </a:lstStyle>
          <a:p>
            <a:pPr lvl="0"/>
            <a:r>
              <a:rPr lang="en-GB"/>
              <a:t>Click to edit Master text styles</a:t>
            </a:r>
          </a:p>
        </p:txBody>
      </p:sp>
    </p:spTree>
    <p:extLst>
      <p:ext uri="{BB962C8B-B14F-4D97-AF65-F5344CB8AC3E}">
        <p14:creationId xmlns:p14="http://schemas.microsoft.com/office/powerpoint/2010/main" val="30926670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9"/>
        <p:cNvGrpSpPr/>
        <p:nvPr/>
      </p:nvGrpSpPr>
      <p:grpSpPr>
        <a:xfrm>
          <a:off x="0" y="0"/>
          <a:ext cx="0" cy="0"/>
          <a:chOff x="0" y="0"/>
          <a:chExt cx="0" cy="0"/>
        </a:xfrm>
      </p:grpSpPr>
      <p:sp>
        <p:nvSpPr>
          <p:cNvPr id="30" name="Google Shape;30;p4"/>
          <p:cNvSpPr txBox="1">
            <a:spLocks noGrp="1"/>
          </p:cNvSpPr>
          <p:nvPr>
            <p:ph type="title"/>
          </p:nvPr>
        </p:nvSpPr>
        <p:spPr>
          <a:xfrm>
            <a:off x="914400" y="609600"/>
            <a:ext cx="10363200" cy="609600"/>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32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2"/>
                </a:solidFill>
                <a:latin typeface="Arial"/>
                <a:ea typeface="Arial"/>
                <a:cs typeface="Arial"/>
                <a:sym typeface="Arial"/>
              </a:defRPr>
            </a:lvl9pPr>
          </a:lstStyle>
          <a:p>
            <a:endParaRPr/>
          </a:p>
        </p:txBody>
      </p:sp>
      <p:sp>
        <p:nvSpPr>
          <p:cNvPr id="31" name="Google Shape;31;p4"/>
          <p:cNvSpPr txBox="1">
            <a:spLocks noGrp="1"/>
          </p:cNvSpPr>
          <p:nvPr>
            <p:ph type="body" idx="1"/>
          </p:nvPr>
        </p:nvSpPr>
        <p:spPr>
          <a:xfrm>
            <a:off x="914400" y="1371600"/>
            <a:ext cx="10363200" cy="4876800"/>
          </a:xfrm>
          <a:prstGeom prst="rect">
            <a:avLst/>
          </a:prstGeom>
          <a:noFill/>
          <a:ln>
            <a:noFill/>
          </a:ln>
        </p:spPr>
        <p:txBody>
          <a:bodyPr spcFirstLastPara="1" wrap="square" lIns="91425" tIns="45700" rIns="91425" bIns="45700" anchor="t" anchorCtr="0"/>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388619" algn="l" rtl="0">
              <a:spcBef>
                <a:spcPts val="560"/>
              </a:spcBef>
              <a:spcAft>
                <a:spcPts val="0"/>
              </a:spcAft>
              <a:buClr>
                <a:schemeClr val="dk1"/>
              </a:buClr>
              <a:buSzPts val="252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32" name="Google Shape;32;p4"/>
          <p:cNvSpPr txBox="1">
            <a:spLocks noGrp="1"/>
          </p:cNvSpPr>
          <p:nvPr>
            <p:ph type="ftr" idx="11"/>
          </p:nvPr>
        </p:nvSpPr>
        <p:spPr>
          <a:xfrm>
            <a:off x="812801" y="6400800"/>
            <a:ext cx="4650316" cy="304800"/>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SzPts val="1400"/>
              <a:buNone/>
              <a:defRPr sz="1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562195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69763" name="Rectangle 3"/>
          <p:cNvSpPr>
            <a:spLocks noGrp="1" noChangeArrowheads="1"/>
          </p:cNvSpPr>
          <p:nvPr>
            <p:ph type="ctrTitle"/>
          </p:nvPr>
        </p:nvSpPr>
        <p:spPr>
          <a:xfrm>
            <a:off x="914400" y="2130426"/>
            <a:ext cx="10363200" cy="1470025"/>
          </a:xfrm>
        </p:spPr>
        <p:txBody>
          <a:bodyPr/>
          <a:lstStyle>
            <a:lvl1pPr>
              <a:defRPr>
                <a:latin typeface="Arial" panose="020B0604020202020204" pitchFamily="34" charset="0"/>
                <a:cs typeface="Arial" panose="020B0604020202020204" pitchFamily="34" charset="0"/>
              </a:defRPr>
            </a:lvl1pPr>
          </a:lstStyle>
          <a:p>
            <a:pPr lvl="0"/>
            <a:r>
              <a:rPr lang="en-GB" noProof="0"/>
              <a:t>Click to edit Master title style</a:t>
            </a:r>
          </a:p>
        </p:txBody>
      </p:sp>
      <p:sp>
        <p:nvSpPr>
          <p:cNvPr id="1269764" name="Rectangle 4"/>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GB" noProof="0"/>
              <a:t>Click to edit Master subtitle style</a:t>
            </a:r>
          </a:p>
        </p:txBody>
      </p:sp>
      <p:sp>
        <p:nvSpPr>
          <p:cNvPr id="3" name="Slide Number Placeholder 2">
            <a:extLst>
              <a:ext uri="{FF2B5EF4-FFF2-40B4-BE49-F238E27FC236}">
                <a16:creationId xmlns:a16="http://schemas.microsoft.com/office/drawing/2014/main" id="{7B0AB8EF-DB4A-19E0-F52E-8C22D84DD7D4}"/>
              </a:ext>
            </a:extLst>
          </p:cNvPr>
          <p:cNvSpPr>
            <a:spLocks noGrp="1"/>
          </p:cNvSpPr>
          <p:nvPr>
            <p:ph type="sldNum" sz="quarter" idx="11"/>
          </p:nvPr>
        </p:nvSpPr>
        <p:spPr>
          <a:xfrm>
            <a:off x="9652000" y="6553200"/>
            <a:ext cx="2540000" cy="304800"/>
          </a:xfrm>
          <a:prstGeom prst="rect">
            <a:avLst/>
          </a:prstGeom>
        </p:spPr>
        <p:txBody>
          <a:bodyPr/>
          <a:lstStyle/>
          <a:p>
            <a:pPr>
              <a:defRPr/>
            </a:pPr>
            <a:fld id="{EBAF8907-08B4-4073-9557-38B4CD6012FB}" type="slidenum">
              <a:rPr lang="en-US" smtClean="0"/>
              <a:pPr>
                <a:defRPr/>
              </a:pPr>
              <a:t>‹#›</a:t>
            </a:fld>
            <a:endParaRPr lang="en-US" dirty="0"/>
          </a:p>
        </p:txBody>
      </p:sp>
    </p:spTree>
    <p:extLst>
      <p:ext uri="{BB962C8B-B14F-4D97-AF65-F5344CB8AC3E}">
        <p14:creationId xmlns:p14="http://schemas.microsoft.com/office/powerpoint/2010/main" val="815577478"/>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000"/>
            </a:lvl1p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6CE05366-6432-42C9-9C08-BC96B943BEFD}" type="slidenum">
              <a:rPr lang="en-US"/>
              <a:pPr>
                <a:defRPr/>
              </a:pPr>
              <a:t>‹#›</a:t>
            </a:fld>
            <a:endParaRPr lang="en-US" dirty="0"/>
          </a:p>
        </p:txBody>
      </p:sp>
    </p:spTree>
    <p:extLst>
      <p:ext uri="{BB962C8B-B14F-4D97-AF65-F5344CB8AC3E}">
        <p14:creationId xmlns:p14="http://schemas.microsoft.com/office/powerpoint/2010/main" val="588675326"/>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atin typeface="Arial" panose="020B0604020202020204" pitchFamily="34" charset="0"/>
                <a:cs typeface="Arial" panose="020B0604020202020204" pitchFamily="34" charset="0"/>
              </a:defRPr>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5" name="Rectangle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CCBFB3D3-0001-499D-BB67-EEFA9B889080}" type="slidenum">
              <a:rPr lang="en-US"/>
              <a:pPr>
                <a:defRPr/>
              </a:pPr>
              <a:t>‹#›</a:t>
            </a:fld>
            <a:endParaRPr lang="en-US" dirty="0"/>
          </a:p>
        </p:txBody>
      </p:sp>
    </p:spTree>
    <p:extLst>
      <p:ext uri="{BB962C8B-B14F-4D97-AF65-F5344CB8AC3E}">
        <p14:creationId xmlns:p14="http://schemas.microsoft.com/office/powerpoint/2010/main" val="715656412"/>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990600"/>
            <a:ext cx="50800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990600"/>
            <a:ext cx="50800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Rectangle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88F82718-C8E2-4AF5-AB82-46ED5F33D429}" type="slidenum">
              <a:rPr lang="en-US"/>
              <a:pPr>
                <a:defRPr/>
              </a:pPr>
              <a:t>‹#›</a:t>
            </a:fld>
            <a:endParaRPr lang="en-US" dirty="0"/>
          </a:p>
        </p:txBody>
      </p:sp>
    </p:spTree>
    <p:extLst>
      <p:ext uri="{BB962C8B-B14F-4D97-AF65-F5344CB8AC3E}">
        <p14:creationId xmlns:p14="http://schemas.microsoft.com/office/powerpoint/2010/main" val="2899688508"/>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D855136A-2EAD-49C0-B057-C86A1AA0E51C}" type="slidenum">
              <a:rPr lang="en-US"/>
              <a:pPr>
                <a:defRPr/>
              </a:pPr>
              <a:t>‹#›</a:t>
            </a:fld>
            <a:endParaRPr lang="en-US" dirty="0"/>
          </a:p>
        </p:txBody>
      </p:sp>
    </p:spTree>
    <p:extLst>
      <p:ext uri="{BB962C8B-B14F-4D97-AF65-F5344CB8AC3E}">
        <p14:creationId xmlns:p14="http://schemas.microsoft.com/office/powerpoint/2010/main" val="1631656346"/>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4" name="Rectangle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9641AE6B-5D96-4417-9C71-946E131C9D1B}" type="slidenum">
              <a:rPr lang="en-US"/>
              <a:pPr>
                <a:defRPr/>
              </a:pPr>
              <a:t>‹#›</a:t>
            </a:fld>
            <a:endParaRPr lang="en-US" dirty="0"/>
          </a:p>
        </p:txBody>
      </p:sp>
    </p:spTree>
    <p:extLst>
      <p:ext uri="{BB962C8B-B14F-4D97-AF65-F5344CB8AC3E}">
        <p14:creationId xmlns:p14="http://schemas.microsoft.com/office/powerpoint/2010/main" val="58683161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37C97503-6F4C-4F0A-AD76-F88AA2DDC501}" type="slidenum">
              <a:rPr lang="en-US"/>
              <a:pPr>
                <a:defRPr/>
              </a:pPr>
              <a:t>‹#›</a:t>
            </a:fld>
            <a:endParaRPr lang="en-US" dirty="0"/>
          </a:p>
        </p:txBody>
      </p:sp>
    </p:spTree>
    <p:extLst>
      <p:ext uri="{BB962C8B-B14F-4D97-AF65-F5344CB8AC3E}">
        <p14:creationId xmlns:p14="http://schemas.microsoft.com/office/powerpoint/2010/main" val="24455696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E4745B4C-5C7D-4DAC-B189-1DB35E6B3700}" type="slidenum">
              <a:rPr lang="en-US"/>
              <a:pPr>
                <a:defRPr/>
              </a:pPr>
              <a:t>‹#›</a:t>
            </a:fld>
            <a:endParaRPr lang="en-US" dirty="0"/>
          </a:p>
        </p:txBody>
      </p:sp>
    </p:spTree>
    <p:extLst>
      <p:ext uri="{BB962C8B-B14F-4D97-AF65-F5344CB8AC3E}">
        <p14:creationId xmlns:p14="http://schemas.microsoft.com/office/powerpoint/2010/main" val="228502631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Rectangle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96D8A34B-5DED-429B-8C55-CCB11B1B1486}" type="slidenum">
              <a:rPr lang="en-US"/>
              <a:pPr>
                <a:defRPr/>
              </a:pPr>
              <a:t>‹#›</a:t>
            </a:fld>
            <a:endParaRPr lang="en-US" dirty="0"/>
          </a:p>
        </p:txBody>
      </p:sp>
    </p:spTree>
    <p:extLst>
      <p:ext uri="{BB962C8B-B14F-4D97-AF65-F5344CB8AC3E}">
        <p14:creationId xmlns:p14="http://schemas.microsoft.com/office/powerpoint/2010/main" val="4084231153"/>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1BC157A9-B886-480F-A6AB-3B9DE842BCB2}" type="slidenum">
              <a:rPr lang="en-US"/>
              <a:pPr>
                <a:defRPr/>
              </a:pPr>
              <a:t>‹#›</a:t>
            </a:fld>
            <a:endParaRPr lang="en-US" dirty="0"/>
          </a:p>
        </p:txBody>
      </p:sp>
    </p:spTree>
    <p:extLst>
      <p:ext uri="{BB962C8B-B14F-4D97-AF65-F5344CB8AC3E}">
        <p14:creationId xmlns:p14="http://schemas.microsoft.com/office/powerpoint/2010/main" val="253070051"/>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20200" y="304800"/>
            <a:ext cx="2768600" cy="57912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914400" y="304800"/>
            <a:ext cx="81026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730E985E-4D7D-475F-9E97-2D1D9146B1A8}" type="slidenum">
              <a:rPr lang="en-US"/>
              <a:pPr>
                <a:defRPr/>
              </a:pPr>
              <a:t>‹#›</a:t>
            </a:fld>
            <a:endParaRPr lang="en-US" dirty="0"/>
          </a:p>
        </p:txBody>
      </p:sp>
    </p:spTree>
    <p:extLst>
      <p:ext uri="{BB962C8B-B14F-4D97-AF65-F5344CB8AC3E}">
        <p14:creationId xmlns:p14="http://schemas.microsoft.com/office/powerpoint/2010/main" val="23637536"/>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304800"/>
            <a:ext cx="9956800" cy="457200"/>
          </a:xfrm>
        </p:spPr>
        <p:txBody>
          <a:bodyPr/>
          <a:lstStyle/>
          <a:p>
            <a:r>
              <a:rPr lang="en-US"/>
              <a:t>Click to edit Master title style</a:t>
            </a:r>
            <a:endParaRPr lang="en-GB"/>
          </a:p>
        </p:txBody>
      </p:sp>
      <p:sp>
        <p:nvSpPr>
          <p:cNvPr id="3" name="Text Placeholder 2"/>
          <p:cNvSpPr>
            <a:spLocks noGrp="1"/>
          </p:cNvSpPr>
          <p:nvPr>
            <p:ph type="body" sz="half" idx="1"/>
          </p:nvPr>
        </p:nvSpPr>
        <p:spPr>
          <a:xfrm>
            <a:off x="914400" y="990600"/>
            <a:ext cx="50800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quarter" idx="2"/>
          </p:nvPr>
        </p:nvSpPr>
        <p:spPr>
          <a:xfrm>
            <a:off x="6197600" y="990600"/>
            <a:ext cx="5080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Content Placeholder 4"/>
          <p:cNvSpPr>
            <a:spLocks noGrp="1"/>
          </p:cNvSpPr>
          <p:nvPr>
            <p:ph sz="quarter" idx="3"/>
          </p:nvPr>
        </p:nvSpPr>
        <p:spPr>
          <a:xfrm>
            <a:off x="6197600" y="3619500"/>
            <a:ext cx="5080000" cy="2476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p:cNvSpPr>
            <a:spLocks noGrp="1" noChangeArrowheads="1"/>
          </p:cNvSpPr>
          <p:nvPr>
            <p:ph type="sldNum" sz="quarter" idx="11"/>
          </p:nvPr>
        </p:nvSpPr>
        <p:spPr>
          <a:xfrm>
            <a:off x="9652000" y="6553200"/>
            <a:ext cx="2540000" cy="304800"/>
          </a:xfrm>
          <a:prstGeom prst="rect">
            <a:avLst/>
          </a:prstGeom>
          <a:ln/>
        </p:spPr>
        <p:txBody>
          <a:bodyPr/>
          <a:lstStyle>
            <a:lvl1pPr>
              <a:defRPr/>
            </a:lvl1pPr>
          </a:lstStyle>
          <a:p>
            <a:pPr>
              <a:defRPr/>
            </a:pPr>
            <a:fld id="{84FD16A0-B529-4718-B02E-6D8F37A83744}" type="slidenum">
              <a:rPr lang="en-US"/>
              <a:pPr>
                <a:defRPr/>
              </a:pPr>
              <a:t>‹#›</a:t>
            </a:fld>
            <a:endParaRPr lang="en-US" dirty="0"/>
          </a:p>
        </p:txBody>
      </p:sp>
    </p:spTree>
    <p:extLst>
      <p:ext uri="{BB962C8B-B14F-4D97-AF65-F5344CB8AC3E}">
        <p14:creationId xmlns:p14="http://schemas.microsoft.com/office/powerpoint/2010/main" val="280917414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41AF07-C2D7-B04F-9930-63B44BDE835E}"/>
              </a:ext>
            </a:extLst>
          </p:cNvPr>
          <p:cNvSpPr>
            <a:spLocks noGrp="1"/>
          </p:cNvSpPr>
          <p:nvPr>
            <p:ph type="body" idx="1"/>
          </p:nvPr>
        </p:nvSpPr>
        <p:spPr>
          <a:xfrm>
            <a:off x="407988" y="1268413"/>
            <a:ext cx="10945812" cy="489743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A4797C5F-8193-8D42-A34F-7C7632EC54ED}"/>
              </a:ext>
            </a:extLst>
          </p:cNvPr>
          <p:cNvSpPr>
            <a:spLocks noGrp="1"/>
          </p:cNvSpPr>
          <p:nvPr>
            <p:ph type="ftr" sz="quarter" idx="3"/>
          </p:nvPr>
        </p:nvSpPr>
        <p:spPr>
          <a:xfrm>
            <a:off x="4038600" y="6271509"/>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Mergers, MBOs &amp; Other Corp. Reorgs. // Constantine Yannelis</a:t>
            </a:r>
          </a:p>
        </p:txBody>
      </p:sp>
      <p:sp>
        <p:nvSpPr>
          <p:cNvPr id="4" name="Title 1">
            <a:extLst>
              <a:ext uri="{FF2B5EF4-FFF2-40B4-BE49-F238E27FC236}">
                <a16:creationId xmlns:a16="http://schemas.microsoft.com/office/drawing/2014/main" id="{5D4FDCB9-4639-134E-E2AD-AF01EFB1A7D2}"/>
              </a:ext>
            </a:extLst>
          </p:cNvPr>
          <p:cNvSpPr txBox="1">
            <a:spLocks/>
          </p:cNvSpPr>
          <p:nvPr userDrawn="1"/>
        </p:nvSpPr>
        <p:spPr>
          <a:xfrm>
            <a:off x="3180213" y="383414"/>
            <a:ext cx="8172000" cy="396000"/>
          </a:xfrm>
          <a:prstGeom prst="rect">
            <a:avLst/>
          </a:prstGeom>
        </p:spPr>
        <p:txBody>
          <a:bodyPr lIns="90000" rIns="0"/>
          <a:lstStyle>
            <a:lvl1pPr algn="r" defTabSz="914400" rtl="0" eaLnBrk="1" latinLnBrk="0" hangingPunct="1">
              <a:lnSpc>
                <a:spcPct val="90000"/>
              </a:lnSpc>
              <a:spcBef>
                <a:spcPct val="0"/>
              </a:spcBef>
              <a:buNone/>
              <a:defRPr sz="2000" kern="1200">
                <a:solidFill>
                  <a:schemeClr val="tx1"/>
                </a:solidFill>
                <a:latin typeface="+mj-lt"/>
                <a:ea typeface="+mj-ea"/>
                <a:cs typeface="+mj-cs"/>
              </a:defRPr>
            </a:lvl1pPr>
          </a:lstStyle>
          <a:p>
            <a:r>
              <a:rPr lang="en-US" dirty="0"/>
              <a:t>Mergers, MBOs &amp; Other Corporate Reorganizations </a:t>
            </a:r>
          </a:p>
        </p:txBody>
      </p:sp>
      <p:sp>
        <p:nvSpPr>
          <p:cNvPr id="6" name="Text Placeholder 2">
            <a:extLst>
              <a:ext uri="{FF2B5EF4-FFF2-40B4-BE49-F238E27FC236}">
                <a16:creationId xmlns:a16="http://schemas.microsoft.com/office/drawing/2014/main" id="{27D25937-38EE-19D3-10D3-5E0F7C87B65B}"/>
              </a:ext>
            </a:extLst>
          </p:cNvPr>
          <p:cNvSpPr txBox="1">
            <a:spLocks/>
          </p:cNvSpPr>
          <p:nvPr userDrawn="1"/>
        </p:nvSpPr>
        <p:spPr>
          <a:xfrm>
            <a:off x="3176263" y="788272"/>
            <a:ext cx="8172000" cy="289161"/>
          </a:xfrm>
          <a:prstGeom prst="rect">
            <a:avLst/>
          </a:prstGeom>
        </p:spPr>
        <p:txBody>
          <a:bodyPr rIns="0">
            <a:noAutofit/>
          </a:bodyPr>
          <a:lstStyle>
            <a:lvl1pPr marL="0" indent="0" algn="r" defTabSz="914400" rtl="0" eaLnBrk="1" latinLnBrk="0" hangingPunct="1">
              <a:lnSpc>
                <a:spcPct val="90000"/>
              </a:lnSpc>
              <a:spcBef>
                <a:spcPts val="1000"/>
              </a:spcBef>
              <a:buFont typeface="Courier New" panose="02070309020205020404" pitchFamily="49" charset="0"/>
              <a:buNone/>
              <a:defRPr sz="1600" b="0" i="0" kern="1200">
                <a:solidFill>
                  <a:schemeClr val="accent3"/>
                </a:solidFill>
                <a:latin typeface="+mj-lt"/>
                <a:ea typeface="+mn-ea"/>
                <a:cs typeface="+mn-cs"/>
              </a:defRPr>
            </a:lvl1pPr>
            <a:lvl2pPr marL="457200" indent="0" algn="r" defTabSz="914400" rtl="0" eaLnBrk="1" latinLnBrk="0" hangingPunct="1">
              <a:lnSpc>
                <a:spcPct val="90000"/>
              </a:lnSpc>
              <a:spcBef>
                <a:spcPts val="500"/>
              </a:spcBef>
              <a:buFont typeface="Courier New" panose="02070309020205020404" pitchFamily="49" charset="0"/>
              <a:buNone/>
              <a:defRPr sz="1400" b="0" i="0" kern="1200">
                <a:solidFill>
                  <a:schemeClr val="tx1"/>
                </a:solidFill>
                <a:latin typeface="+mn-lt"/>
                <a:ea typeface="+mn-ea"/>
                <a:cs typeface="+mn-cs"/>
              </a:defRPr>
            </a:lvl2pPr>
            <a:lvl3pPr marL="914400" indent="0" algn="r" defTabSz="914400" rtl="0" eaLnBrk="1" latinLnBrk="0" hangingPunct="1">
              <a:lnSpc>
                <a:spcPct val="90000"/>
              </a:lnSpc>
              <a:spcBef>
                <a:spcPts val="500"/>
              </a:spcBef>
              <a:buFont typeface="Courier New" panose="02070309020205020404" pitchFamily="49" charset="0"/>
              <a:buNone/>
              <a:defRPr sz="1400" b="0" i="0" kern="1200">
                <a:solidFill>
                  <a:schemeClr val="tx1"/>
                </a:solidFill>
                <a:latin typeface="+mn-lt"/>
                <a:ea typeface="+mn-ea"/>
                <a:cs typeface="+mn-cs"/>
              </a:defRPr>
            </a:lvl3pPr>
            <a:lvl4pPr marL="1371600" indent="0" algn="r" defTabSz="914400" rtl="0" eaLnBrk="1" latinLnBrk="0" hangingPunct="1">
              <a:lnSpc>
                <a:spcPct val="90000"/>
              </a:lnSpc>
              <a:spcBef>
                <a:spcPts val="500"/>
              </a:spcBef>
              <a:buFont typeface="Courier New" panose="02070309020205020404" pitchFamily="49" charset="0"/>
              <a:buNone/>
              <a:defRPr sz="1400" b="0" i="0" kern="1200">
                <a:solidFill>
                  <a:schemeClr val="tx1"/>
                </a:solidFill>
                <a:latin typeface="+mn-lt"/>
                <a:ea typeface="+mn-ea"/>
                <a:cs typeface="+mn-cs"/>
              </a:defRPr>
            </a:lvl4pPr>
            <a:lvl5pPr marL="1828800" indent="0" algn="r" defTabSz="914400" rtl="0" eaLnBrk="1" latinLnBrk="0" hangingPunct="1">
              <a:lnSpc>
                <a:spcPct val="90000"/>
              </a:lnSpc>
              <a:spcBef>
                <a:spcPts val="500"/>
              </a:spcBef>
              <a:buFont typeface="Courier New" panose="02070309020205020404" pitchFamily="49"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Constantine Yannelis</a:t>
            </a:r>
          </a:p>
        </p:txBody>
      </p:sp>
    </p:spTree>
    <p:extLst>
      <p:ext uri="{BB962C8B-B14F-4D97-AF65-F5344CB8AC3E}">
        <p14:creationId xmlns:p14="http://schemas.microsoft.com/office/powerpoint/2010/main" val="3647889370"/>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51" r:id="rId3"/>
    <p:sldLayoutId id="2147483666" r:id="rId4"/>
    <p:sldLayoutId id="2147483667" r:id="rId5"/>
    <p:sldLayoutId id="2147483650" r:id="rId6"/>
    <p:sldLayoutId id="2147483652" r:id="rId7"/>
    <p:sldLayoutId id="2147483653" r:id="rId8"/>
    <p:sldLayoutId id="2147483657" r:id="rId9"/>
    <p:sldLayoutId id="2147483663" r:id="rId10"/>
    <p:sldLayoutId id="2147483664" r:id="rId11"/>
    <p:sldLayoutId id="2147483665" r:id="rId12"/>
    <p:sldLayoutId id="2147483696"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57200" indent="-457200" algn="l" defTabSz="914400" rtl="0" eaLnBrk="1" latinLnBrk="0" hangingPunct="1">
        <a:lnSpc>
          <a:spcPct val="90000"/>
        </a:lnSpc>
        <a:spcBef>
          <a:spcPts val="1000"/>
        </a:spcBef>
        <a:buFont typeface="Arial" panose="020B0604020202020204" pitchFamily="34" charset="0"/>
        <a:buChar char="•"/>
        <a:defRPr sz="2400" b="0" i="0" kern="1200">
          <a:solidFill>
            <a:schemeClr val="tx2"/>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b="0" i="0" kern="1200">
          <a:solidFill>
            <a:schemeClr val="tx2"/>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b="0" i="0" kern="1200">
          <a:solidFill>
            <a:schemeClr val="tx2"/>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600" b="0" i="0" kern="1200">
          <a:solidFill>
            <a:schemeClr val="tx2"/>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400" b="0" i="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151">
          <p15:clr>
            <a:srgbClr val="F26B43"/>
          </p15:clr>
        </p15:guide>
        <p15:guide id="2" orient="horz" pos="2160">
          <p15:clr>
            <a:srgbClr val="F26B43"/>
          </p15:clr>
        </p15:guide>
        <p15:guide id="3" orient="horz" pos="278">
          <p15:clr>
            <a:srgbClr val="F26B43"/>
          </p15:clr>
        </p15:guide>
        <p15:guide id="4" pos="257">
          <p15:clr>
            <a:srgbClr val="F26B43"/>
          </p15:clr>
        </p15:guide>
        <p15:guide id="5" orient="horz" pos="2795">
          <p15:clr>
            <a:srgbClr val="F26B43"/>
          </p15:clr>
        </p15:guide>
        <p15:guide id="6" orient="horz" pos="4110">
          <p15:clr>
            <a:srgbClr val="F26B43"/>
          </p15:clr>
        </p15:guide>
        <p15:guide id="7" orient="horz" pos="1298">
          <p15:clr>
            <a:srgbClr val="F26B43"/>
          </p15:clr>
        </p15:guide>
        <p15:guide id="8" orient="horz" pos="3884">
          <p15:clr>
            <a:srgbClr val="F26B43"/>
          </p15:clr>
        </p15:guide>
        <p15:guide id="9" orient="horz" pos="799">
          <p15:clr>
            <a:srgbClr val="F26B43"/>
          </p15:clr>
        </p15:guide>
        <p15:guide id="10" orient="horz" pos="3702">
          <p15:clr>
            <a:srgbClr val="F26B43"/>
          </p15:clr>
        </p15:guide>
        <p15:guide id="11" orient="horz" pos="22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bwMode="auto">
          <a:xfrm>
            <a:off x="1320800" y="304800"/>
            <a:ext cx="995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028" name="Rectangle 3"/>
          <p:cNvSpPr>
            <a:spLocks noGrp="1" noChangeArrowheads="1"/>
          </p:cNvSpPr>
          <p:nvPr>
            <p:ph type="body" idx="1"/>
          </p:nvPr>
        </p:nvSpPr>
        <p:spPr bwMode="auto">
          <a:xfrm>
            <a:off x="914400" y="990600"/>
            <a:ext cx="103632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pic>
        <p:nvPicPr>
          <p:cNvPr id="2" name="Picture 1">
            <a:extLst>
              <a:ext uri="{FF2B5EF4-FFF2-40B4-BE49-F238E27FC236}">
                <a16:creationId xmlns:a16="http://schemas.microsoft.com/office/drawing/2014/main" id="{D5292397-9AE3-F36D-06FE-D6F89FF2BBA7}"/>
              </a:ext>
            </a:extLst>
          </p:cNvPr>
          <p:cNvPicPr>
            <a:picLocks noChangeAspect="1"/>
          </p:cNvPicPr>
          <p:nvPr userDrawn="1"/>
        </p:nvPicPr>
        <p:blipFill>
          <a:blip r:embed="rId14"/>
          <a:stretch>
            <a:fillRect/>
          </a:stretch>
        </p:blipFill>
        <p:spPr>
          <a:xfrm>
            <a:off x="0" y="0"/>
            <a:ext cx="1943100" cy="635000"/>
          </a:xfrm>
          <a:prstGeom prst="rect">
            <a:avLst/>
          </a:prstGeom>
        </p:spPr>
      </p:pic>
    </p:spTree>
    <p:extLst>
      <p:ext uri="{BB962C8B-B14F-4D97-AF65-F5344CB8AC3E}">
        <p14:creationId xmlns:p14="http://schemas.microsoft.com/office/powerpoint/2010/main" val="4111574505"/>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transition/>
  <p:hf hdr="0" dt="0"/>
  <p:txStyles>
    <p:titleStyle>
      <a:lvl1pPr algn="r" rtl="0" eaLnBrk="0" fontAlgn="base" hangingPunct="0">
        <a:spcBef>
          <a:spcPct val="0"/>
        </a:spcBef>
        <a:spcAft>
          <a:spcPct val="0"/>
        </a:spcAft>
        <a:defRPr sz="2000" b="0">
          <a:solidFill>
            <a:schemeClr val="accent6">
              <a:lumMod val="75000"/>
            </a:schemeClr>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3000" b="1">
          <a:solidFill>
            <a:schemeClr val="tx2"/>
          </a:solidFill>
          <a:latin typeface="Times New Roman" pitchFamily="18" charset="0"/>
        </a:defRPr>
      </a:lvl2pPr>
      <a:lvl3pPr algn="ctr" rtl="0" eaLnBrk="0" fontAlgn="base" hangingPunct="0">
        <a:spcBef>
          <a:spcPct val="0"/>
        </a:spcBef>
        <a:spcAft>
          <a:spcPct val="0"/>
        </a:spcAft>
        <a:defRPr sz="3000" b="1">
          <a:solidFill>
            <a:schemeClr val="tx2"/>
          </a:solidFill>
          <a:latin typeface="Times New Roman" pitchFamily="18" charset="0"/>
        </a:defRPr>
      </a:lvl3pPr>
      <a:lvl4pPr algn="ctr" rtl="0" eaLnBrk="0" fontAlgn="base" hangingPunct="0">
        <a:spcBef>
          <a:spcPct val="0"/>
        </a:spcBef>
        <a:spcAft>
          <a:spcPct val="0"/>
        </a:spcAft>
        <a:defRPr sz="3000" b="1">
          <a:solidFill>
            <a:schemeClr val="tx2"/>
          </a:solidFill>
          <a:latin typeface="Times New Roman" pitchFamily="18" charset="0"/>
        </a:defRPr>
      </a:lvl4pPr>
      <a:lvl5pPr algn="ctr" rtl="0" eaLnBrk="0" fontAlgn="base" hangingPunct="0">
        <a:spcBef>
          <a:spcPct val="0"/>
        </a:spcBef>
        <a:spcAft>
          <a:spcPct val="0"/>
        </a:spcAft>
        <a:defRPr sz="3000" b="1">
          <a:solidFill>
            <a:schemeClr val="tx2"/>
          </a:solidFill>
          <a:latin typeface="Times New Roman" pitchFamily="18" charset="0"/>
        </a:defRPr>
      </a:lvl5pPr>
      <a:lvl6pPr marL="457200" algn="ctr" rtl="0" fontAlgn="base">
        <a:spcBef>
          <a:spcPct val="0"/>
        </a:spcBef>
        <a:spcAft>
          <a:spcPct val="0"/>
        </a:spcAft>
        <a:defRPr sz="3000" b="1">
          <a:solidFill>
            <a:schemeClr val="tx2"/>
          </a:solidFill>
          <a:latin typeface="Times New Roman" pitchFamily="18" charset="0"/>
        </a:defRPr>
      </a:lvl6pPr>
      <a:lvl7pPr marL="914400" algn="ctr" rtl="0" fontAlgn="base">
        <a:spcBef>
          <a:spcPct val="0"/>
        </a:spcBef>
        <a:spcAft>
          <a:spcPct val="0"/>
        </a:spcAft>
        <a:defRPr sz="3000" b="1">
          <a:solidFill>
            <a:schemeClr val="tx2"/>
          </a:solidFill>
          <a:latin typeface="Times New Roman" pitchFamily="18" charset="0"/>
        </a:defRPr>
      </a:lvl7pPr>
      <a:lvl8pPr marL="1371600" algn="ctr" rtl="0" fontAlgn="base">
        <a:spcBef>
          <a:spcPct val="0"/>
        </a:spcBef>
        <a:spcAft>
          <a:spcPct val="0"/>
        </a:spcAft>
        <a:defRPr sz="3000" b="1">
          <a:solidFill>
            <a:schemeClr val="tx2"/>
          </a:solidFill>
          <a:latin typeface="Times New Roman" pitchFamily="18" charset="0"/>
        </a:defRPr>
      </a:lvl8pPr>
      <a:lvl9pPr marL="1828800" algn="ctr" rtl="0" fontAlgn="base">
        <a:spcBef>
          <a:spcPct val="0"/>
        </a:spcBef>
        <a:spcAft>
          <a:spcPct val="0"/>
        </a:spcAft>
        <a:defRPr sz="3000" b="1">
          <a:solidFill>
            <a:schemeClr val="tx2"/>
          </a:solidFill>
          <a:latin typeface="Times New Roman" pitchFamily="18" charset="0"/>
        </a:defRPr>
      </a:lvl9pPr>
    </p:titleStyle>
    <p:bodyStyle>
      <a:lvl1pPr marL="395288" indent="-395288" algn="l" rtl="0" eaLnBrk="0" fontAlgn="base" hangingPunct="0">
        <a:spcBef>
          <a:spcPct val="20000"/>
        </a:spcBef>
        <a:spcAft>
          <a:spcPct val="0"/>
        </a:spcAft>
        <a:buChar char="•"/>
        <a:defRPr sz="2200">
          <a:solidFill>
            <a:schemeClr val="tx1"/>
          </a:solidFill>
          <a:latin typeface="Arial" panose="020B0604020202020204" pitchFamily="34" charset="0"/>
          <a:ea typeface="+mn-ea"/>
          <a:cs typeface="Arial" panose="020B0604020202020204" pitchFamily="34" charset="0"/>
        </a:defRPr>
      </a:lvl1pPr>
      <a:lvl2pPr marL="844550" indent="-334963" algn="l" rtl="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2pPr>
      <a:lvl3pPr marL="1262063" indent="-234950" algn="l" rtl="0" eaLnBrk="0" fontAlgn="base" hangingPunct="0">
        <a:spcBef>
          <a:spcPct val="20000"/>
        </a:spcBef>
        <a:spcAft>
          <a:spcPct val="0"/>
        </a:spcAft>
        <a:buFont typeface="Wingdings" pitchFamily="2" charset="2"/>
        <a:buChar char="§"/>
        <a:defRPr sz="2000">
          <a:solidFill>
            <a:schemeClr val="tx1"/>
          </a:solidFill>
          <a:latin typeface="Arial" panose="020B0604020202020204" pitchFamily="34" charset="0"/>
          <a:cs typeface="Arial" panose="020B0604020202020204" pitchFamily="34" charset="0"/>
        </a:defRPr>
      </a:lvl3pPr>
      <a:lvl4pPr marL="1657350" indent="-222250" algn="l" rtl="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4pPr>
      <a:lvl5pPr marL="2114550" indent="-284163" algn="l" rtl="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5pPr>
      <a:lvl6pPr marL="2571750" indent="-284163" algn="just" rtl="0" fontAlgn="base">
        <a:spcBef>
          <a:spcPct val="20000"/>
        </a:spcBef>
        <a:spcAft>
          <a:spcPct val="0"/>
        </a:spcAft>
        <a:buChar char="»"/>
        <a:defRPr sz="2000">
          <a:solidFill>
            <a:schemeClr val="tx1"/>
          </a:solidFill>
          <a:latin typeface="+mn-lt"/>
        </a:defRPr>
      </a:lvl6pPr>
      <a:lvl7pPr marL="3028950" indent="-284163" algn="just" rtl="0" fontAlgn="base">
        <a:spcBef>
          <a:spcPct val="20000"/>
        </a:spcBef>
        <a:spcAft>
          <a:spcPct val="0"/>
        </a:spcAft>
        <a:buChar char="»"/>
        <a:defRPr sz="2000">
          <a:solidFill>
            <a:schemeClr val="tx1"/>
          </a:solidFill>
          <a:latin typeface="+mn-lt"/>
        </a:defRPr>
      </a:lvl7pPr>
      <a:lvl8pPr marL="3486150" indent="-284163" algn="just" rtl="0" fontAlgn="base">
        <a:spcBef>
          <a:spcPct val="20000"/>
        </a:spcBef>
        <a:spcAft>
          <a:spcPct val="0"/>
        </a:spcAft>
        <a:buChar char="»"/>
        <a:defRPr sz="2000">
          <a:solidFill>
            <a:schemeClr val="tx1"/>
          </a:solidFill>
          <a:latin typeface="+mn-lt"/>
        </a:defRPr>
      </a:lvl8pPr>
      <a:lvl9pPr marL="3943350" indent="-284163" algn="just"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55363" y="2060575"/>
            <a:ext cx="10098437" cy="2237291"/>
          </a:xfrm>
        </p:spPr>
        <p:txBody>
          <a:bodyPr/>
          <a:lstStyle/>
          <a:p>
            <a:r>
              <a:rPr lang="en-US" dirty="0"/>
              <a:t>Mergers, MBOs &amp; Other Corporate Reorganizations </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3655675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9221F6-7BD9-3212-8D52-165A1894E3FA}"/>
              </a:ext>
            </a:extLst>
          </p:cNvPr>
          <p:cNvSpPr>
            <a:spLocks noGrp="1"/>
          </p:cNvSpPr>
          <p:nvPr>
            <p:ph type="body" sz="quarter" idx="11"/>
          </p:nvPr>
        </p:nvSpPr>
        <p:spPr>
          <a:xfrm>
            <a:off x="3794760" y="2060575"/>
            <a:ext cx="8107430" cy="1992951"/>
          </a:xfrm>
        </p:spPr>
        <p:txBody>
          <a:bodyPr>
            <a:normAutofit/>
          </a:bodyPr>
          <a:lstStyle/>
          <a:p>
            <a:r>
              <a:rPr lang="en-US" dirty="0"/>
              <a:t>Mergers, MBOs &amp; Other Corporate Reorganizations </a:t>
            </a:r>
            <a:endParaRPr lang="en-SE"/>
          </a:p>
        </p:txBody>
      </p:sp>
      <p:sp>
        <p:nvSpPr>
          <p:cNvPr id="3" name="Text Placeholder 2">
            <a:extLst>
              <a:ext uri="{FF2B5EF4-FFF2-40B4-BE49-F238E27FC236}">
                <a16:creationId xmlns:a16="http://schemas.microsoft.com/office/drawing/2014/main" id="{4B1BC3CE-D054-F8A7-9A0E-A3D5F3F74873}"/>
              </a:ext>
            </a:extLst>
          </p:cNvPr>
          <p:cNvSpPr>
            <a:spLocks noGrp="1"/>
          </p:cNvSpPr>
          <p:nvPr>
            <p:ph type="body" sz="quarter" idx="12"/>
          </p:nvPr>
        </p:nvSpPr>
        <p:spPr/>
        <p:txBody>
          <a:bodyPr/>
          <a:lstStyle/>
          <a:p>
            <a:r>
              <a:rPr lang="sv-SE" dirty="0"/>
              <a:t>Final Review</a:t>
            </a:r>
            <a:endParaRPr lang="en-SE" dirty="0"/>
          </a:p>
        </p:txBody>
      </p:sp>
    </p:spTree>
    <p:extLst>
      <p:ext uri="{BB962C8B-B14F-4D97-AF65-F5344CB8AC3E}">
        <p14:creationId xmlns:p14="http://schemas.microsoft.com/office/powerpoint/2010/main" val="737254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Q1(i)</a:t>
            </a:r>
          </a:p>
        </p:txBody>
      </p:sp>
      <p:sp>
        <p:nvSpPr>
          <p:cNvPr id="3" name="Content Placeholder 2"/>
          <p:cNvSpPr>
            <a:spLocks noGrp="1"/>
          </p:cNvSpPr>
          <p:nvPr>
            <p:ph idx="1"/>
          </p:nvPr>
        </p:nvSpPr>
        <p:spPr/>
        <p:txBody>
          <a:bodyPr/>
          <a:lstStyle/>
          <a:p>
            <a:r>
              <a:rPr dirty="0"/>
              <a:t>True or False: The case of Roche shows that in times of crisis it is impossible to raise debt; therefore firms should raise equity.</a:t>
            </a:r>
          </a:p>
          <a:p>
            <a:endParaRPr dirty="0"/>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408DC-4AA4-A6E3-F124-B71F0B1A8E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86C36F-83E6-9920-C9A0-AC4D74DCB673}"/>
              </a:ext>
            </a:extLst>
          </p:cNvPr>
          <p:cNvSpPr>
            <a:spLocks noGrp="1"/>
          </p:cNvSpPr>
          <p:nvPr>
            <p:ph type="title"/>
          </p:nvPr>
        </p:nvSpPr>
        <p:spPr/>
        <p:txBody>
          <a:bodyPr/>
          <a:lstStyle/>
          <a:p>
            <a:r>
              <a:t>Q1(i)</a:t>
            </a:r>
          </a:p>
        </p:txBody>
      </p:sp>
      <p:sp>
        <p:nvSpPr>
          <p:cNvPr id="3" name="Content Placeholder 2">
            <a:extLst>
              <a:ext uri="{FF2B5EF4-FFF2-40B4-BE49-F238E27FC236}">
                <a16:creationId xmlns:a16="http://schemas.microsoft.com/office/drawing/2014/main" id="{C6A81F3E-5BB1-C79B-2147-2FF4979CBCC1}"/>
              </a:ext>
            </a:extLst>
          </p:cNvPr>
          <p:cNvSpPr>
            <a:spLocks noGrp="1"/>
          </p:cNvSpPr>
          <p:nvPr>
            <p:ph idx="1"/>
          </p:nvPr>
        </p:nvSpPr>
        <p:spPr/>
        <p:txBody>
          <a:bodyPr/>
          <a:lstStyle/>
          <a:p>
            <a:r>
              <a:t>True or False: The case of Roche shows that in times of crisis it is impossible to raise debt; therefore firms should raise equity.</a:t>
            </a:r>
          </a:p>
          <a:p>
            <a:endParaRPr/>
          </a:p>
          <a:p>
            <a:r>
              <a:t>Solution: False. The Roche–Genentech case shows that although bank lending was restricted, the bond market still provided financing. Capital markets tend to be less procyclical than bank lending.</a:t>
            </a:r>
          </a:p>
        </p:txBody>
      </p:sp>
    </p:spTree>
    <p:extLst>
      <p:ext uri="{BB962C8B-B14F-4D97-AF65-F5344CB8AC3E}">
        <p14:creationId xmlns:p14="http://schemas.microsoft.com/office/powerpoint/2010/main" val="2484221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Q1(ii)</a:t>
            </a:r>
          </a:p>
        </p:txBody>
      </p:sp>
      <p:sp>
        <p:nvSpPr>
          <p:cNvPr id="3" name="Content Placeholder 2"/>
          <p:cNvSpPr>
            <a:spLocks noGrp="1"/>
          </p:cNvSpPr>
          <p:nvPr>
            <p:ph idx="1"/>
          </p:nvPr>
        </p:nvSpPr>
        <p:spPr/>
        <p:txBody>
          <a:bodyPr/>
          <a:lstStyle/>
          <a:p>
            <a:r>
              <a:t>True or False: In Chapter 11 the absolute priority rule can never be broken.</a:t>
            </a:r>
          </a:p>
          <a:p>
            <a:endParaRPr/>
          </a:p>
          <a:p>
            <a:r>
              <a:t>Solution: False. In the LATAM case, new senior debt was proposed that would rank ahead of existing debt to solve a debt overhang problem.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22B5B-DB1C-CDC5-D75D-6CC6B3887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1F235D-83A8-5AD6-C873-2AB6271279F9}"/>
              </a:ext>
            </a:extLst>
          </p:cNvPr>
          <p:cNvSpPr>
            <a:spLocks noGrp="1"/>
          </p:cNvSpPr>
          <p:nvPr>
            <p:ph type="title"/>
          </p:nvPr>
        </p:nvSpPr>
        <p:spPr/>
        <p:txBody>
          <a:bodyPr/>
          <a:lstStyle/>
          <a:p>
            <a:r>
              <a:t>Q1(ii)</a:t>
            </a:r>
          </a:p>
        </p:txBody>
      </p:sp>
      <p:sp>
        <p:nvSpPr>
          <p:cNvPr id="3" name="Content Placeholder 2">
            <a:extLst>
              <a:ext uri="{FF2B5EF4-FFF2-40B4-BE49-F238E27FC236}">
                <a16:creationId xmlns:a16="http://schemas.microsoft.com/office/drawing/2014/main" id="{ECAF329C-E489-0855-5DDA-2382BBDBD452}"/>
              </a:ext>
            </a:extLst>
          </p:cNvPr>
          <p:cNvSpPr>
            <a:spLocks noGrp="1"/>
          </p:cNvSpPr>
          <p:nvPr>
            <p:ph idx="1"/>
          </p:nvPr>
        </p:nvSpPr>
        <p:spPr/>
        <p:txBody>
          <a:bodyPr/>
          <a:lstStyle/>
          <a:p>
            <a:r>
              <a:rPr dirty="0"/>
              <a:t>True or False: In Chapter 11 the absolute priority rule can never be broken.</a:t>
            </a:r>
          </a:p>
          <a:p>
            <a:endParaRPr dirty="0"/>
          </a:p>
        </p:txBody>
      </p:sp>
    </p:spTree>
    <p:extLst>
      <p:ext uri="{BB962C8B-B14F-4D97-AF65-F5344CB8AC3E}">
        <p14:creationId xmlns:p14="http://schemas.microsoft.com/office/powerpoint/2010/main" val="3271197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Q1(iii)</a:t>
            </a:r>
          </a:p>
        </p:txBody>
      </p:sp>
      <p:sp>
        <p:nvSpPr>
          <p:cNvPr id="3" name="Content Placeholder 2"/>
          <p:cNvSpPr>
            <a:spLocks noGrp="1"/>
          </p:cNvSpPr>
          <p:nvPr>
            <p:ph idx="1"/>
          </p:nvPr>
        </p:nvSpPr>
        <p:spPr/>
        <p:txBody>
          <a:bodyPr/>
          <a:lstStyle/>
          <a:p>
            <a:r>
              <a:rPr dirty="0"/>
              <a:t>True or False: Excess returns from asset manager engagements indicate insider information and violate securities laws.</a:t>
            </a:r>
          </a:p>
          <a:p>
            <a:endParaRPr dirty="0"/>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21DB5-BF7C-9AEE-2EC8-EC818DC63D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0F0CA2-804D-1AF7-61C2-AAAD269B80CF}"/>
              </a:ext>
            </a:extLst>
          </p:cNvPr>
          <p:cNvSpPr>
            <a:spLocks noGrp="1"/>
          </p:cNvSpPr>
          <p:nvPr>
            <p:ph type="title"/>
          </p:nvPr>
        </p:nvSpPr>
        <p:spPr/>
        <p:txBody>
          <a:bodyPr/>
          <a:lstStyle/>
          <a:p>
            <a:r>
              <a:t>Q1(iii)</a:t>
            </a:r>
          </a:p>
        </p:txBody>
      </p:sp>
      <p:sp>
        <p:nvSpPr>
          <p:cNvPr id="3" name="Content Placeholder 2">
            <a:extLst>
              <a:ext uri="{FF2B5EF4-FFF2-40B4-BE49-F238E27FC236}">
                <a16:creationId xmlns:a16="http://schemas.microsoft.com/office/drawing/2014/main" id="{EC22D379-A49F-4726-E3C3-87B49A553685}"/>
              </a:ext>
            </a:extLst>
          </p:cNvPr>
          <p:cNvSpPr>
            <a:spLocks noGrp="1"/>
          </p:cNvSpPr>
          <p:nvPr>
            <p:ph idx="1"/>
          </p:nvPr>
        </p:nvSpPr>
        <p:spPr/>
        <p:txBody>
          <a:bodyPr/>
          <a:lstStyle/>
          <a:p>
            <a:r>
              <a:t>True or False: Excess returns from asset manager engagements indicate insider information and violate securities laws.</a:t>
            </a:r>
          </a:p>
          <a:p>
            <a:endParaRPr/>
          </a:p>
          <a:p>
            <a:r>
              <a:t>Solution: False. The information is soft information obtained through engagement and fits under the mosaic rule, which is permissible.</a:t>
            </a:r>
          </a:p>
        </p:txBody>
      </p:sp>
    </p:spTree>
    <p:extLst>
      <p:ext uri="{BB962C8B-B14F-4D97-AF65-F5344CB8AC3E}">
        <p14:creationId xmlns:p14="http://schemas.microsoft.com/office/powerpoint/2010/main" val="1724756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Q1(iv)</a:t>
            </a:r>
          </a:p>
        </p:txBody>
      </p:sp>
      <p:sp>
        <p:nvSpPr>
          <p:cNvPr id="3" name="Content Placeholder 2"/>
          <p:cNvSpPr>
            <a:spLocks noGrp="1"/>
          </p:cNvSpPr>
          <p:nvPr>
            <p:ph idx="1"/>
          </p:nvPr>
        </p:nvSpPr>
        <p:spPr/>
        <p:txBody>
          <a:bodyPr/>
          <a:lstStyle/>
          <a:p>
            <a:r>
              <a:rPr dirty="0"/>
              <a:t>True or False: Large block ownership is undesirable because it always leads to private benefits of control and reduces share prices.</a:t>
            </a:r>
          </a:p>
          <a:p>
            <a:endParaRPr dirty="0"/>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54445-F81A-99D9-D845-BC3CFCD4C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2AA51-EDF7-8551-8DEF-2F730F715DA5}"/>
              </a:ext>
            </a:extLst>
          </p:cNvPr>
          <p:cNvSpPr>
            <a:spLocks noGrp="1"/>
          </p:cNvSpPr>
          <p:nvPr>
            <p:ph type="title"/>
          </p:nvPr>
        </p:nvSpPr>
        <p:spPr/>
        <p:txBody>
          <a:bodyPr/>
          <a:lstStyle/>
          <a:p>
            <a:r>
              <a:t>Q1(iv)</a:t>
            </a:r>
          </a:p>
        </p:txBody>
      </p:sp>
      <p:sp>
        <p:nvSpPr>
          <p:cNvPr id="3" name="Content Placeholder 2">
            <a:extLst>
              <a:ext uri="{FF2B5EF4-FFF2-40B4-BE49-F238E27FC236}">
                <a16:creationId xmlns:a16="http://schemas.microsoft.com/office/drawing/2014/main" id="{559F8EAC-BB22-73CC-AD11-811C72B73593}"/>
              </a:ext>
            </a:extLst>
          </p:cNvPr>
          <p:cNvSpPr>
            <a:spLocks noGrp="1"/>
          </p:cNvSpPr>
          <p:nvPr>
            <p:ph idx="1"/>
          </p:nvPr>
        </p:nvSpPr>
        <p:spPr/>
        <p:txBody>
          <a:bodyPr/>
          <a:lstStyle/>
          <a:p>
            <a:r>
              <a:rPr dirty="0"/>
              <a:t>True or False: Large block ownership is undesirable because it always leads to private benefits of control and reduces share prices.</a:t>
            </a:r>
          </a:p>
          <a:p>
            <a:endParaRPr dirty="0"/>
          </a:p>
          <a:p>
            <a:endParaRPr dirty="0"/>
          </a:p>
        </p:txBody>
      </p:sp>
    </p:spTree>
    <p:extLst>
      <p:ext uri="{BB962C8B-B14F-4D97-AF65-F5344CB8AC3E}">
        <p14:creationId xmlns:p14="http://schemas.microsoft.com/office/powerpoint/2010/main" val="2987431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5BDD7-42F8-3967-E6CF-6A24DBF35E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55FC8-26CB-D472-277D-6A8EB33DEC73}"/>
              </a:ext>
            </a:extLst>
          </p:cNvPr>
          <p:cNvSpPr>
            <a:spLocks noGrp="1"/>
          </p:cNvSpPr>
          <p:nvPr>
            <p:ph type="title"/>
          </p:nvPr>
        </p:nvSpPr>
        <p:spPr/>
        <p:txBody>
          <a:bodyPr/>
          <a:lstStyle/>
          <a:p>
            <a:r>
              <a:t>Q1(iv)</a:t>
            </a:r>
          </a:p>
        </p:txBody>
      </p:sp>
      <p:sp>
        <p:nvSpPr>
          <p:cNvPr id="3" name="Content Placeholder 2">
            <a:extLst>
              <a:ext uri="{FF2B5EF4-FFF2-40B4-BE49-F238E27FC236}">
                <a16:creationId xmlns:a16="http://schemas.microsoft.com/office/drawing/2014/main" id="{A2B010F9-81EF-5EF5-32DA-07C4832FC9B0}"/>
              </a:ext>
            </a:extLst>
          </p:cNvPr>
          <p:cNvSpPr>
            <a:spLocks noGrp="1"/>
          </p:cNvSpPr>
          <p:nvPr>
            <p:ph idx="1"/>
          </p:nvPr>
        </p:nvSpPr>
        <p:spPr/>
        <p:txBody>
          <a:bodyPr/>
          <a:lstStyle/>
          <a:p>
            <a:r>
              <a:t>True or False: Large block ownership is undesirable because it always leads to private benefits of control and reduces share prices.</a:t>
            </a:r>
          </a:p>
          <a:p>
            <a:endParaRPr/>
          </a:p>
          <a:p>
            <a:r>
              <a:t>Solution: False. Regulation can limit private benefits, and blockholders can reduce agency costs associated with dispersed ownership.</a:t>
            </a:r>
          </a:p>
        </p:txBody>
      </p:sp>
    </p:spTree>
    <p:extLst>
      <p:ext uri="{BB962C8B-B14F-4D97-AF65-F5344CB8AC3E}">
        <p14:creationId xmlns:p14="http://schemas.microsoft.com/office/powerpoint/2010/main" val="1627679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Q1(v)</a:t>
            </a:r>
          </a:p>
        </p:txBody>
      </p:sp>
      <p:sp>
        <p:nvSpPr>
          <p:cNvPr id="3" name="Content Placeholder 2"/>
          <p:cNvSpPr>
            <a:spLocks noGrp="1"/>
          </p:cNvSpPr>
          <p:nvPr>
            <p:ph idx="1"/>
          </p:nvPr>
        </p:nvSpPr>
        <p:spPr/>
        <p:txBody>
          <a:bodyPr/>
          <a:lstStyle/>
          <a:p>
            <a:r>
              <a:rPr dirty="0"/>
              <a:t>True or False: Lenders should only give haircuts to borrowers that are insolvent.</a:t>
            </a:r>
          </a:p>
          <a:p>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09BD3-D3E4-8C20-03B0-C2E2BDB38A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2F7C0-18F4-BBEF-423E-FB90FF8229EF}"/>
              </a:ext>
            </a:extLst>
          </p:cNvPr>
          <p:cNvSpPr>
            <a:spLocks noGrp="1"/>
          </p:cNvSpPr>
          <p:nvPr>
            <p:ph type="title"/>
          </p:nvPr>
        </p:nvSpPr>
        <p:spPr/>
        <p:txBody>
          <a:bodyPr/>
          <a:lstStyle/>
          <a:p>
            <a:r>
              <a:t>Q1(v)</a:t>
            </a:r>
          </a:p>
        </p:txBody>
      </p:sp>
      <p:sp>
        <p:nvSpPr>
          <p:cNvPr id="3" name="Content Placeholder 2">
            <a:extLst>
              <a:ext uri="{FF2B5EF4-FFF2-40B4-BE49-F238E27FC236}">
                <a16:creationId xmlns:a16="http://schemas.microsoft.com/office/drawing/2014/main" id="{7AAD2FCC-0F8F-1139-DEA1-165E7D937A5F}"/>
              </a:ext>
            </a:extLst>
          </p:cNvPr>
          <p:cNvSpPr>
            <a:spLocks noGrp="1"/>
          </p:cNvSpPr>
          <p:nvPr>
            <p:ph idx="1"/>
          </p:nvPr>
        </p:nvSpPr>
        <p:spPr/>
        <p:txBody>
          <a:bodyPr/>
          <a:lstStyle/>
          <a:p>
            <a:r>
              <a:t>True or False: Lenders should only give haircuts to borrowers that are insolvent.</a:t>
            </a:r>
          </a:p>
          <a:p>
            <a:endParaRPr/>
          </a:p>
          <a:p>
            <a:r>
              <a:t>Solution: False. Haircuts may also be given to distressed but solvent firms to resolve debt overhang and enable profitable investments.</a:t>
            </a:r>
          </a:p>
        </p:txBody>
      </p:sp>
    </p:spTree>
    <p:extLst>
      <p:ext uri="{BB962C8B-B14F-4D97-AF65-F5344CB8AC3E}">
        <p14:creationId xmlns:p14="http://schemas.microsoft.com/office/powerpoint/2010/main" val="105823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Q2(a)</a:t>
            </a:r>
          </a:p>
        </p:txBody>
      </p:sp>
      <p:sp>
        <p:nvSpPr>
          <p:cNvPr id="3" name="Content Placeholder 2"/>
          <p:cNvSpPr>
            <a:spLocks noGrp="1"/>
          </p:cNvSpPr>
          <p:nvPr>
            <p:ph idx="1"/>
          </p:nvPr>
        </p:nvSpPr>
        <p:spPr/>
        <p:txBody>
          <a:bodyPr>
            <a:normAutofit fontScale="92500" lnSpcReduction="20000"/>
          </a:bodyPr>
          <a:lstStyle/>
          <a:p>
            <a:r>
              <a:rPr lang="en-US" dirty="0"/>
              <a:t>Acquirer Plc has plans to acquire Target Corp; both companies are all-equity financed. Preacquisition (before any merger information or rumors are circulating), Acquirer is trading for $40 per share and has 200 million shares outstanding. Target is trading for $30 per share, with a pre-merger value of $4.5 billion. Assume that the present value of projected synergies is $1 billion and that the deal will be financed with cash (i.e., cash merger). The board of Target indicated that it would sell the firm if it is offered $5 billion in cash.</a:t>
            </a:r>
          </a:p>
          <a:p>
            <a:endParaRPr lang="en-US" dirty="0"/>
          </a:p>
          <a:p>
            <a:r>
              <a:rPr lang="en-US" dirty="0" err="1"/>
              <a:t>i</a:t>
            </a:r>
            <a:r>
              <a:rPr lang="en-US" dirty="0"/>
              <a:t>) What is the value of Acquirer after the acquisition? Should Acquirer acquire Target? What is the NPV of the deal for Acquirer?  </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B4047-EFFE-0385-5343-43171A4C9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C71A5A-AB5F-218A-4563-5C8FF43E8D3D}"/>
              </a:ext>
            </a:extLst>
          </p:cNvPr>
          <p:cNvSpPr>
            <a:spLocks noGrp="1"/>
          </p:cNvSpPr>
          <p:nvPr>
            <p:ph type="title"/>
          </p:nvPr>
        </p:nvSpPr>
        <p:spPr/>
        <p:txBody>
          <a:bodyPr/>
          <a:lstStyle/>
          <a:p>
            <a:r>
              <a:t>Q2(a)</a:t>
            </a:r>
          </a:p>
        </p:txBody>
      </p:sp>
      <p:sp>
        <p:nvSpPr>
          <p:cNvPr id="3" name="Content Placeholder 2">
            <a:extLst>
              <a:ext uri="{FF2B5EF4-FFF2-40B4-BE49-F238E27FC236}">
                <a16:creationId xmlns:a16="http://schemas.microsoft.com/office/drawing/2014/main" id="{557CF583-23B1-E0F2-3004-AEB22C0221C7}"/>
              </a:ext>
            </a:extLst>
          </p:cNvPr>
          <p:cNvSpPr>
            <a:spLocks noGrp="1"/>
          </p:cNvSpPr>
          <p:nvPr>
            <p:ph idx="1"/>
          </p:nvPr>
        </p:nvSpPr>
        <p:spPr/>
        <p:txBody>
          <a:bodyPr/>
          <a:lstStyle/>
          <a:p>
            <a:r>
              <a:rPr dirty="0"/>
              <a:t>Acquirer value before merger = 200m × $40 = $8bn. Target value = $4.5bn. Synergies = $1bn. Offer = $5bn.</a:t>
            </a:r>
          </a:p>
          <a:p>
            <a:endParaRPr dirty="0"/>
          </a:p>
          <a:p>
            <a:r>
              <a:rPr dirty="0"/>
              <a:t>Solution:</a:t>
            </a:r>
          </a:p>
        </p:txBody>
      </p:sp>
    </p:spTree>
    <p:extLst>
      <p:ext uri="{BB962C8B-B14F-4D97-AF65-F5344CB8AC3E}">
        <p14:creationId xmlns:p14="http://schemas.microsoft.com/office/powerpoint/2010/main" val="3194927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DDF52-AE76-CC05-8D38-6324418DEA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5F8EB-6E3C-4C99-C1FA-C0D7E9419A36}"/>
              </a:ext>
            </a:extLst>
          </p:cNvPr>
          <p:cNvSpPr>
            <a:spLocks noGrp="1"/>
          </p:cNvSpPr>
          <p:nvPr>
            <p:ph type="title"/>
          </p:nvPr>
        </p:nvSpPr>
        <p:spPr/>
        <p:txBody>
          <a:bodyPr/>
          <a:lstStyle/>
          <a:p>
            <a:r>
              <a:t>Q2(a)</a:t>
            </a:r>
          </a:p>
        </p:txBody>
      </p:sp>
      <p:sp>
        <p:nvSpPr>
          <p:cNvPr id="3" name="Content Placeholder 2">
            <a:extLst>
              <a:ext uri="{FF2B5EF4-FFF2-40B4-BE49-F238E27FC236}">
                <a16:creationId xmlns:a16="http://schemas.microsoft.com/office/drawing/2014/main" id="{900BBACE-453F-B2E7-3C20-2DF53CE678AF}"/>
              </a:ext>
            </a:extLst>
          </p:cNvPr>
          <p:cNvSpPr>
            <a:spLocks noGrp="1"/>
          </p:cNvSpPr>
          <p:nvPr>
            <p:ph idx="1"/>
          </p:nvPr>
        </p:nvSpPr>
        <p:spPr/>
        <p:txBody>
          <a:bodyPr/>
          <a:lstStyle/>
          <a:p>
            <a:r>
              <a:t>Acquirer value before merger = 200m × $40 = $8bn. Target value = $4.5bn. Synergies = $1bn. Offer = $5bn.</a:t>
            </a:r>
          </a:p>
          <a:p>
            <a:endParaRPr/>
          </a:p>
          <a:p>
            <a:r>
              <a:t>Solution:</a:t>
            </a:r>
          </a:p>
          <a:p>
            <a:r>
              <a:t>Post‑merger value of Acquirer = 8 + 4.5 + 1 − 5 = $8.5bn.</a:t>
            </a:r>
          </a:p>
          <a:p>
            <a:r>
              <a:t>NPV for Acquirer = 8.5 − 8 = $0.5bn.</a:t>
            </a:r>
          </a:p>
          <a:p>
            <a:r>
              <a:t>Decision: Acquire Target.</a:t>
            </a:r>
          </a:p>
        </p:txBody>
      </p:sp>
    </p:spTree>
    <p:extLst>
      <p:ext uri="{BB962C8B-B14F-4D97-AF65-F5344CB8AC3E}">
        <p14:creationId xmlns:p14="http://schemas.microsoft.com/office/powerpoint/2010/main" val="41466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Q2(b)</a:t>
            </a:r>
          </a:p>
        </p:txBody>
      </p:sp>
      <p:sp>
        <p:nvSpPr>
          <p:cNvPr id="3" name="Content Placeholder 2"/>
          <p:cNvSpPr>
            <a:spLocks noGrp="1"/>
          </p:cNvSpPr>
          <p:nvPr>
            <p:ph idx="1"/>
          </p:nvPr>
        </p:nvSpPr>
        <p:spPr/>
        <p:txBody>
          <a:bodyPr/>
          <a:lstStyle/>
          <a:p>
            <a:r>
              <a:rPr dirty="0"/>
              <a:t>Find Acquirer share price after acquisition and premium paid.</a:t>
            </a:r>
          </a:p>
          <a:p>
            <a:endParaRPr dirty="0"/>
          </a:p>
          <a:p>
            <a:r>
              <a:rPr dirty="0"/>
              <a:t>Solution: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B37B2-F706-82E3-D51E-DF8FF2680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448B52-482D-39C5-AA39-F2684668E52F}"/>
              </a:ext>
            </a:extLst>
          </p:cNvPr>
          <p:cNvSpPr>
            <a:spLocks noGrp="1"/>
          </p:cNvSpPr>
          <p:nvPr>
            <p:ph type="title"/>
          </p:nvPr>
        </p:nvSpPr>
        <p:spPr/>
        <p:txBody>
          <a:bodyPr/>
          <a:lstStyle/>
          <a:p>
            <a:r>
              <a:t>Q2(b)</a:t>
            </a:r>
          </a:p>
        </p:txBody>
      </p:sp>
      <p:sp>
        <p:nvSpPr>
          <p:cNvPr id="3" name="Content Placeholder 2">
            <a:extLst>
              <a:ext uri="{FF2B5EF4-FFF2-40B4-BE49-F238E27FC236}">
                <a16:creationId xmlns:a16="http://schemas.microsoft.com/office/drawing/2014/main" id="{E1BFB450-412E-A131-E275-59D7F80CC20B}"/>
              </a:ext>
            </a:extLst>
          </p:cNvPr>
          <p:cNvSpPr>
            <a:spLocks noGrp="1"/>
          </p:cNvSpPr>
          <p:nvPr>
            <p:ph idx="1"/>
          </p:nvPr>
        </p:nvSpPr>
        <p:spPr/>
        <p:txBody>
          <a:bodyPr/>
          <a:lstStyle/>
          <a:p>
            <a:r>
              <a:t>Find Acquirer share price after acquisition and premium paid.</a:t>
            </a:r>
          </a:p>
          <a:p>
            <a:endParaRPr/>
          </a:p>
          <a:p>
            <a:r>
              <a:t>Solution:</a:t>
            </a:r>
          </a:p>
          <a:p>
            <a:r>
              <a:t>Post‑merger share price = 8.5bn / 0.2bn shares = $42.5.</a:t>
            </a:r>
          </a:p>
          <a:p>
            <a:r>
              <a:t>Premium = (5 − 4.5)/4.5 = 11.11%.</a:t>
            </a:r>
          </a:p>
        </p:txBody>
      </p:sp>
    </p:spTree>
    <p:extLst>
      <p:ext uri="{BB962C8B-B14F-4D97-AF65-F5344CB8AC3E}">
        <p14:creationId xmlns:p14="http://schemas.microsoft.com/office/powerpoint/2010/main" val="1405716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Q2(c)</a:t>
            </a:r>
          </a:p>
        </p:txBody>
      </p:sp>
      <p:sp>
        <p:nvSpPr>
          <p:cNvPr id="3" name="Content Placeholder 2"/>
          <p:cNvSpPr>
            <a:spLocks noGrp="1"/>
          </p:cNvSpPr>
          <p:nvPr>
            <p:ph idx="1"/>
          </p:nvPr>
        </p:nvSpPr>
        <p:spPr/>
        <p:txBody>
          <a:bodyPr/>
          <a:lstStyle/>
          <a:p>
            <a:r>
              <a:rPr dirty="0"/>
              <a:t>Maximum price Acquirer could pay.</a:t>
            </a:r>
          </a:p>
          <a:p>
            <a:endParaRPr dirty="0"/>
          </a:p>
          <a:p>
            <a:r>
              <a:rPr dirty="0"/>
              <a:t>Solution: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CADCE-5A2E-864E-0F0A-6B320652CF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18606-4D07-A285-3C89-0F5998A77FA4}"/>
              </a:ext>
            </a:extLst>
          </p:cNvPr>
          <p:cNvSpPr>
            <a:spLocks noGrp="1"/>
          </p:cNvSpPr>
          <p:nvPr>
            <p:ph type="title"/>
          </p:nvPr>
        </p:nvSpPr>
        <p:spPr/>
        <p:txBody>
          <a:bodyPr/>
          <a:lstStyle/>
          <a:p>
            <a:r>
              <a:t>Q2(c)</a:t>
            </a:r>
          </a:p>
        </p:txBody>
      </p:sp>
      <p:sp>
        <p:nvSpPr>
          <p:cNvPr id="3" name="Content Placeholder 2">
            <a:extLst>
              <a:ext uri="{FF2B5EF4-FFF2-40B4-BE49-F238E27FC236}">
                <a16:creationId xmlns:a16="http://schemas.microsoft.com/office/drawing/2014/main" id="{CA0386C9-4048-F744-7609-AD1B36B47EBA}"/>
              </a:ext>
            </a:extLst>
          </p:cNvPr>
          <p:cNvSpPr>
            <a:spLocks noGrp="1"/>
          </p:cNvSpPr>
          <p:nvPr>
            <p:ph idx="1"/>
          </p:nvPr>
        </p:nvSpPr>
        <p:spPr/>
        <p:txBody>
          <a:bodyPr/>
          <a:lstStyle/>
          <a:p>
            <a:r>
              <a:t>Maximum price Acquirer could pay.</a:t>
            </a:r>
          </a:p>
          <a:p>
            <a:endParaRPr/>
          </a:p>
          <a:p>
            <a:r>
              <a:t>Solution:</a:t>
            </a:r>
          </a:p>
          <a:p>
            <a:r>
              <a:t>Maximum payment = Target value + Synergies = 4.5 + 1 = $5.5bn.</a:t>
            </a:r>
          </a:p>
          <a:p>
            <a:r>
              <a:t>Any price below $5.5bn keeps the acquisition profitable.</a:t>
            </a:r>
          </a:p>
        </p:txBody>
      </p:sp>
    </p:spTree>
    <p:extLst>
      <p:ext uri="{BB962C8B-B14F-4D97-AF65-F5344CB8AC3E}">
        <p14:creationId xmlns:p14="http://schemas.microsoft.com/office/powerpoint/2010/main" val="381913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Q2(d)</a:t>
            </a:r>
          </a:p>
        </p:txBody>
      </p:sp>
      <p:sp>
        <p:nvSpPr>
          <p:cNvPr id="3" name="Content Placeholder 2"/>
          <p:cNvSpPr>
            <a:spLocks noGrp="1"/>
          </p:cNvSpPr>
          <p:nvPr>
            <p:ph idx="1"/>
          </p:nvPr>
        </p:nvSpPr>
        <p:spPr/>
        <p:txBody>
          <a:bodyPr/>
          <a:lstStyle/>
          <a:p>
            <a:r>
              <a:rPr dirty="0"/>
              <a:t>Stock swap merger: maximum exchange ratio.</a:t>
            </a:r>
          </a:p>
          <a:p>
            <a:endParaRPr dirty="0"/>
          </a:p>
          <a:p>
            <a:r>
              <a:rPr dirty="0"/>
              <a:t>Solution: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EB9C2-B751-D2B0-72CF-142B51F53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6CE4B-05B8-5BC1-9450-4E36631E26D2}"/>
              </a:ext>
            </a:extLst>
          </p:cNvPr>
          <p:cNvSpPr>
            <a:spLocks noGrp="1"/>
          </p:cNvSpPr>
          <p:nvPr>
            <p:ph type="title"/>
          </p:nvPr>
        </p:nvSpPr>
        <p:spPr/>
        <p:txBody>
          <a:bodyPr/>
          <a:lstStyle/>
          <a:p>
            <a:r>
              <a:t>Q2(d)</a:t>
            </a:r>
          </a:p>
        </p:txBody>
      </p:sp>
      <p:sp>
        <p:nvSpPr>
          <p:cNvPr id="3" name="Content Placeholder 2">
            <a:extLst>
              <a:ext uri="{FF2B5EF4-FFF2-40B4-BE49-F238E27FC236}">
                <a16:creationId xmlns:a16="http://schemas.microsoft.com/office/drawing/2014/main" id="{B5DA0427-573B-919B-6059-F54D52B3E613}"/>
              </a:ext>
            </a:extLst>
          </p:cNvPr>
          <p:cNvSpPr>
            <a:spLocks noGrp="1"/>
          </p:cNvSpPr>
          <p:nvPr>
            <p:ph idx="1"/>
          </p:nvPr>
        </p:nvSpPr>
        <p:spPr/>
        <p:txBody>
          <a:bodyPr/>
          <a:lstStyle/>
          <a:p>
            <a:r>
              <a:t>Stock swap merger: maximum exchange ratio.</a:t>
            </a:r>
          </a:p>
          <a:p>
            <a:endParaRPr/>
          </a:p>
          <a:p>
            <a:r>
              <a:t>Solution:</a:t>
            </a:r>
          </a:p>
          <a:p>
            <a:r>
              <a:t>Target value with synergies = $5.5bn.</a:t>
            </a:r>
          </a:p>
          <a:p>
            <a:r>
              <a:t>Acquirer share price = $40.</a:t>
            </a:r>
          </a:p>
          <a:p>
            <a:r>
              <a:t>Shares issued = 5500/40 = 137.5m.</a:t>
            </a:r>
          </a:p>
          <a:p>
            <a:r>
              <a:t>Exchange ratio = 137.5/150 = 0.9167.</a:t>
            </a:r>
          </a:p>
          <a:p>
            <a:r>
              <a:t>Meaning: maximum new Acquirer shares per Target share while maintaining positive NPV.</a:t>
            </a:r>
          </a:p>
        </p:txBody>
      </p:sp>
    </p:spTree>
    <p:extLst>
      <p:ext uri="{BB962C8B-B14F-4D97-AF65-F5344CB8AC3E}">
        <p14:creationId xmlns:p14="http://schemas.microsoft.com/office/powerpoint/2010/main" val="1209365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Q2(e)</a:t>
            </a:r>
          </a:p>
        </p:txBody>
      </p:sp>
      <p:sp>
        <p:nvSpPr>
          <p:cNvPr id="3" name="Content Placeholder 2"/>
          <p:cNvSpPr>
            <a:spLocks noGrp="1"/>
          </p:cNvSpPr>
          <p:nvPr>
            <p:ph idx="1"/>
          </p:nvPr>
        </p:nvSpPr>
        <p:spPr/>
        <p:txBody>
          <a:bodyPr/>
          <a:lstStyle/>
          <a:p>
            <a:r>
              <a:rPr dirty="0"/>
              <a:t>Exchange ratio so Target receives equity worth $5bn.</a:t>
            </a:r>
          </a:p>
          <a:p>
            <a:endParaRPr dirty="0"/>
          </a:p>
          <a:p>
            <a:r>
              <a:rPr dirty="0"/>
              <a:t>Solution: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6FF21-8B8C-3876-CFD8-B0B7873F20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543F7C-776D-B976-60FF-147A3030961E}"/>
              </a:ext>
            </a:extLst>
          </p:cNvPr>
          <p:cNvSpPr>
            <a:spLocks noGrp="1"/>
          </p:cNvSpPr>
          <p:nvPr>
            <p:ph type="title"/>
          </p:nvPr>
        </p:nvSpPr>
        <p:spPr/>
        <p:txBody>
          <a:bodyPr/>
          <a:lstStyle/>
          <a:p>
            <a:r>
              <a:t>Q2(e)</a:t>
            </a:r>
          </a:p>
        </p:txBody>
      </p:sp>
      <p:sp>
        <p:nvSpPr>
          <p:cNvPr id="3" name="Content Placeholder 2">
            <a:extLst>
              <a:ext uri="{FF2B5EF4-FFF2-40B4-BE49-F238E27FC236}">
                <a16:creationId xmlns:a16="http://schemas.microsoft.com/office/drawing/2014/main" id="{C7449ECE-29BB-A260-68E9-0BDDD1B444C1}"/>
              </a:ext>
            </a:extLst>
          </p:cNvPr>
          <p:cNvSpPr>
            <a:spLocks noGrp="1"/>
          </p:cNvSpPr>
          <p:nvPr>
            <p:ph idx="1"/>
          </p:nvPr>
        </p:nvSpPr>
        <p:spPr/>
        <p:txBody>
          <a:bodyPr/>
          <a:lstStyle/>
          <a:p>
            <a:r>
              <a:t>Exchange ratio so Target receives equity worth $5bn.</a:t>
            </a:r>
          </a:p>
          <a:p>
            <a:endParaRPr/>
          </a:p>
          <a:p>
            <a:r>
              <a:t>Solution:</a:t>
            </a:r>
          </a:p>
          <a:p>
            <a:r>
              <a:t>Solve x/(200+x) × 13,500 = 5,000.</a:t>
            </a:r>
          </a:p>
          <a:p>
            <a:r>
              <a:t>x = 117.647m shares issued.</a:t>
            </a:r>
          </a:p>
          <a:p>
            <a:r>
              <a:t>Exchange ratio = 117.647 / 150 = 0.7843.</a:t>
            </a:r>
          </a:p>
        </p:txBody>
      </p:sp>
    </p:spTree>
    <p:extLst>
      <p:ext uri="{BB962C8B-B14F-4D97-AF65-F5344CB8AC3E}">
        <p14:creationId xmlns:p14="http://schemas.microsoft.com/office/powerpoint/2010/main" val="3290070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Q3(a)</a:t>
            </a:r>
          </a:p>
        </p:txBody>
      </p:sp>
      <p:sp>
        <p:nvSpPr>
          <p:cNvPr id="3" name="Content Placeholder 2"/>
          <p:cNvSpPr>
            <a:spLocks noGrp="1"/>
          </p:cNvSpPr>
          <p:nvPr>
            <p:ph idx="1"/>
          </p:nvPr>
        </p:nvSpPr>
        <p:spPr/>
        <p:txBody>
          <a:bodyPr/>
          <a:lstStyle/>
          <a:p>
            <a:r>
              <a:rPr lang="en-US" dirty="0"/>
              <a:t>Given its recent performance there is now great fear that </a:t>
            </a:r>
            <a:r>
              <a:rPr lang="en-US" dirty="0" err="1"/>
              <a:t>Pleito</a:t>
            </a:r>
            <a:r>
              <a:rPr lang="en-US" dirty="0"/>
              <a:t>, PLC may go bankrupt soon. The firm has assets which may be worth £100 million if things go well or £20 million if things don’t go well. It is known by all market participants that the likelihood of each scenario is 50%. The firm currently has debt outstanding with face value of £50 million due next year. Please assume that there are no costs of financial distress, and the appropriate discount rate is zero.</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D7C7F-4B01-314B-EF42-5F7BA7774A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052531-2C64-1619-DF7A-DF04FED1D3F7}"/>
              </a:ext>
            </a:extLst>
          </p:cNvPr>
          <p:cNvSpPr>
            <a:spLocks noGrp="1"/>
          </p:cNvSpPr>
          <p:nvPr>
            <p:ph type="title"/>
          </p:nvPr>
        </p:nvSpPr>
        <p:spPr/>
        <p:txBody>
          <a:bodyPr/>
          <a:lstStyle/>
          <a:p>
            <a:r>
              <a:t>Q3(a)</a:t>
            </a:r>
          </a:p>
        </p:txBody>
      </p:sp>
      <p:sp>
        <p:nvSpPr>
          <p:cNvPr id="3" name="Content Placeholder 2">
            <a:extLst>
              <a:ext uri="{FF2B5EF4-FFF2-40B4-BE49-F238E27FC236}">
                <a16:creationId xmlns:a16="http://schemas.microsoft.com/office/drawing/2014/main" id="{DA224249-9F9C-1DAB-424E-452878A9963D}"/>
              </a:ext>
            </a:extLst>
          </p:cNvPr>
          <p:cNvSpPr>
            <a:spLocks noGrp="1"/>
          </p:cNvSpPr>
          <p:nvPr>
            <p:ph idx="1"/>
          </p:nvPr>
        </p:nvSpPr>
        <p:spPr/>
        <p:txBody>
          <a:bodyPr/>
          <a:lstStyle/>
          <a:p>
            <a:r>
              <a:rPr dirty="0"/>
              <a:t>Assets worth £100 (good) or £20 (bad), each with 50%. Debt face value £50.</a:t>
            </a:r>
            <a:endParaRPr lang="en-US" dirty="0"/>
          </a:p>
          <a:p>
            <a:r>
              <a:rPr lang="en-US" dirty="0"/>
              <a:t>What are the current market values of the assets, equity, and debt?</a:t>
            </a:r>
            <a:endParaRPr dirty="0"/>
          </a:p>
          <a:p>
            <a:endParaRPr dirty="0"/>
          </a:p>
          <a:p>
            <a:r>
              <a:rPr dirty="0"/>
              <a:t>Solution:</a:t>
            </a:r>
          </a:p>
        </p:txBody>
      </p:sp>
    </p:spTree>
    <p:extLst>
      <p:ext uri="{BB962C8B-B14F-4D97-AF65-F5344CB8AC3E}">
        <p14:creationId xmlns:p14="http://schemas.microsoft.com/office/powerpoint/2010/main" val="887330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361E3-4C76-7812-9CAB-7913C09BD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899ABF-6563-AF6E-D5F9-E2B40E0D92E4}"/>
              </a:ext>
            </a:extLst>
          </p:cNvPr>
          <p:cNvSpPr>
            <a:spLocks noGrp="1"/>
          </p:cNvSpPr>
          <p:nvPr>
            <p:ph type="title"/>
          </p:nvPr>
        </p:nvSpPr>
        <p:spPr/>
        <p:txBody>
          <a:bodyPr/>
          <a:lstStyle/>
          <a:p>
            <a:r>
              <a:t>Q3(a)</a:t>
            </a:r>
          </a:p>
        </p:txBody>
      </p:sp>
      <p:sp>
        <p:nvSpPr>
          <p:cNvPr id="3" name="Content Placeholder 2">
            <a:extLst>
              <a:ext uri="{FF2B5EF4-FFF2-40B4-BE49-F238E27FC236}">
                <a16:creationId xmlns:a16="http://schemas.microsoft.com/office/drawing/2014/main" id="{20B9F153-F1D7-C22E-6853-1C3D12ADECF5}"/>
              </a:ext>
            </a:extLst>
          </p:cNvPr>
          <p:cNvSpPr>
            <a:spLocks noGrp="1"/>
          </p:cNvSpPr>
          <p:nvPr>
            <p:ph idx="1"/>
          </p:nvPr>
        </p:nvSpPr>
        <p:spPr/>
        <p:txBody>
          <a:bodyPr/>
          <a:lstStyle/>
          <a:p>
            <a:r>
              <a:rPr dirty="0"/>
              <a:t>Assets worth £100 (good) or £20 (bad), each with 50%. Debt face value £50.</a:t>
            </a:r>
            <a:endParaRPr lang="en-US" dirty="0"/>
          </a:p>
          <a:p>
            <a:r>
              <a:rPr lang="en-US" dirty="0"/>
              <a:t>What are the current market values of the assets, equity, and debt?</a:t>
            </a:r>
            <a:endParaRPr dirty="0"/>
          </a:p>
          <a:p>
            <a:endParaRPr dirty="0"/>
          </a:p>
          <a:p>
            <a:r>
              <a:rPr dirty="0"/>
              <a:t>Solution:</a:t>
            </a:r>
          </a:p>
          <a:p>
            <a:r>
              <a:rPr dirty="0"/>
              <a:t>Debt value = 0.5×50 + 0.5×20 = £35m.</a:t>
            </a:r>
          </a:p>
          <a:p>
            <a:r>
              <a:rPr dirty="0"/>
              <a:t>Equity value = 0.5×50 + 0.5×0 = £25m.</a:t>
            </a:r>
          </a:p>
          <a:p>
            <a:r>
              <a:rPr dirty="0"/>
              <a:t>Enterprise value = £60m.</a:t>
            </a:r>
          </a:p>
        </p:txBody>
      </p:sp>
    </p:spTree>
    <p:extLst>
      <p:ext uri="{BB962C8B-B14F-4D97-AF65-F5344CB8AC3E}">
        <p14:creationId xmlns:p14="http://schemas.microsoft.com/office/powerpoint/2010/main" val="4542596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Q3(b)</a:t>
            </a:r>
          </a:p>
        </p:txBody>
      </p:sp>
      <p:sp>
        <p:nvSpPr>
          <p:cNvPr id="3" name="Content Placeholder 2"/>
          <p:cNvSpPr>
            <a:spLocks noGrp="1"/>
          </p:cNvSpPr>
          <p:nvPr>
            <p:ph idx="1"/>
          </p:nvPr>
        </p:nvSpPr>
        <p:spPr/>
        <p:txBody>
          <a:bodyPr/>
          <a:lstStyle/>
          <a:p>
            <a:r>
              <a:rPr dirty="0"/>
              <a:t>Project: invest £1m; payoff £5m (good), −£10m (bad).</a:t>
            </a:r>
          </a:p>
          <a:p>
            <a:endParaRPr dirty="0"/>
          </a:p>
          <a:p>
            <a:r>
              <a:rPr dirty="0"/>
              <a:t>Solution: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97EF4-514D-845D-A8F1-19F327063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B0ABD-37DE-9F19-3691-13E4888475F1}"/>
              </a:ext>
            </a:extLst>
          </p:cNvPr>
          <p:cNvSpPr>
            <a:spLocks noGrp="1"/>
          </p:cNvSpPr>
          <p:nvPr>
            <p:ph type="title"/>
          </p:nvPr>
        </p:nvSpPr>
        <p:spPr/>
        <p:txBody>
          <a:bodyPr/>
          <a:lstStyle/>
          <a:p>
            <a:r>
              <a:t>Q3(b)</a:t>
            </a:r>
          </a:p>
        </p:txBody>
      </p:sp>
      <p:sp>
        <p:nvSpPr>
          <p:cNvPr id="3" name="Content Placeholder 2">
            <a:extLst>
              <a:ext uri="{FF2B5EF4-FFF2-40B4-BE49-F238E27FC236}">
                <a16:creationId xmlns:a16="http://schemas.microsoft.com/office/drawing/2014/main" id="{BB840C17-7562-0AA8-2246-8EC52A871DEF}"/>
              </a:ext>
            </a:extLst>
          </p:cNvPr>
          <p:cNvSpPr>
            <a:spLocks noGrp="1"/>
          </p:cNvSpPr>
          <p:nvPr>
            <p:ph idx="1"/>
          </p:nvPr>
        </p:nvSpPr>
        <p:spPr/>
        <p:txBody>
          <a:bodyPr/>
          <a:lstStyle/>
          <a:p>
            <a:r>
              <a:t>Project: invest £1m; payoff £5m (good), −£10m (bad).</a:t>
            </a:r>
          </a:p>
          <a:p>
            <a:endParaRPr/>
          </a:p>
          <a:p>
            <a:r>
              <a:t>Solution:</a:t>
            </a:r>
          </a:p>
          <a:p>
            <a:r>
              <a:t>Debt = 0.5×50 + 0.5×9 = £29.5m.</a:t>
            </a:r>
          </a:p>
          <a:p>
            <a:r>
              <a:t>Equity = 0.5×54 + 0.5×0 = £27m.</a:t>
            </a:r>
          </a:p>
          <a:p>
            <a:r>
              <a:t>Enterprise value = £56.5m.</a:t>
            </a:r>
          </a:p>
          <a:p>
            <a:r>
              <a:t>Equity increases → shareholders would invest.</a:t>
            </a:r>
          </a:p>
        </p:txBody>
      </p:sp>
    </p:spTree>
    <p:extLst>
      <p:ext uri="{BB962C8B-B14F-4D97-AF65-F5344CB8AC3E}">
        <p14:creationId xmlns:p14="http://schemas.microsoft.com/office/powerpoint/2010/main" val="4969531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Q3(c)</a:t>
            </a:r>
          </a:p>
        </p:txBody>
      </p:sp>
      <p:sp>
        <p:nvSpPr>
          <p:cNvPr id="3" name="Content Placeholder 2"/>
          <p:cNvSpPr>
            <a:spLocks noGrp="1"/>
          </p:cNvSpPr>
          <p:nvPr>
            <p:ph idx="1"/>
          </p:nvPr>
        </p:nvSpPr>
        <p:spPr/>
        <p:txBody>
          <a:bodyPr/>
          <a:lstStyle/>
          <a:p>
            <a:r>
              <a:t>Name of agency problem.</a:t>
            </a:r>
          </a:p>
          <a:p>
            <a:endParaRPr/>
          </a:p>
          <a:p>
            <a:r>
              <a:t>Solution: Risk shifting (asset substitution).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Q3(d)</a:t>
            </a:r>
          </a:p>
        </p:txBody>
      </p:sp>
      <p:sp>
        <p:nvSpPr>
          <p:cNvPr id="3" name="Content Placeholder 2"/>
          <p:cNvSpPr>
            <a:spLocks noGrp="1"/>
          </p:cNvSpPr>
          <p:nvPr>
            <p:ph idx="1"/>
          </p:nvPr>
        </p:nvSpPr>
        <p:spPr/>
        <p:txBody>
          <a:bodyPr/>
          <a:lstStyle/>
          <a:p>
            <a:r>
              <a:rPr dirty="0"/>
              <a:t>New project: invest £10m, payoff £15m in both states (financed externally).</a:t>
            </a:r>
          </a:p>
          <a:p>
            <a:endParaRPr dirty="0"/>
          </a:p>
          <a:p>
            <a:r>
              <a:rPr dirty="0"/>
              <a:t>Solution: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47B73-7106-25BE-DDB2-0625BD0685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8E9907-3E43-A3A1-F897-253270CC6E89}"/>
              </a:ext>
            </a:extLst>
          </p:cNvPr>
          <p:cNvSpPr>
            <a:spLocks noGrp="1"/>
          </p:cNvSpPr>
          <p:nvPr>
            <p:ph type="title"/>
          </p:nvPr>
        </p:nvSpPr>
        <p:spPr/>
        <p:txBody>
          <a:bodyPr/>
          <a:lstStyle/>
          <a:p>
            <a:r>
              <a:t>Q3(d)</a:t>
            </a:r>
          </a:p>
        </p:txBody>
      </p:sp>
      <p:sp>
        <p:nvSpPr>
          <p:cNvPr id="3" name="Content Placeholder 2">
            <a:extLst>
              <a:ext uri="{FF2B5EF4-FFF2-40B4-BE49-F238E27FC236}">
                <a16:creationId xmlns:a16="http://schemas.microsoft.com/office/drawing/2014/main" id="{73D2564D-5F3D-7049-E18C-D43882113BFD}"/>
              </a:ext>
            </a:extLst>
          </p:cNvPr>
          <p:cNvSpPr>
            <a:spLocks noGrp="1"/>
          </p:cNvSpPr>
          <p:nvPr>
            <p:ph idx="1"/>
          </p:nvPr>
        </p:nvSpPr>
        <p:spPr/>
        <p:txBody>
          <a:bodyPr/>
          <a:lstStyle/>
          <a:p>
            <a:r>
              <a:t>New project: invest £10m, payoff £15m in both states (financed externally).</a:t>
            </a:r>
          </a:p>
          <a:p>
            <a:endParaRPr/>
          </a:p>
          <a:p>
            <a:r>
              <a:t>Solution:</a:t>
            </a:r>
          </a:p>
          <a:p>
            <a:r>
              <a:t>Debt = 0.5×50 + 0.5×35 = £42.5m.</a:t>
            </a:r>
          </a:p>
          <a:p>
            <a:r>
              <a:t>Equity = 0.5×65 + 0.5×0 = £32.5m.</a:t>
            </a:r>
          </a:p>
          <a:p>
            <a:r>
              <a:t>Enterprise value = £75m.</a:t>
            </a:r>
          </a:p>
        </p:txBody>
      </p:sp>
    </p:spTree>
    <p:extLst>
      <p:ext uri="{BB962C8B-B14F-4D97-AF65-F5344CB8AC3E}">
        <p14:creationId xmlns:p14="http://schemas.microsoft.com/office/powerpoint/2010/main" val="37247023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Q3(e)</a:t>
            </a:r>
          </a:p>
        </p:txBody>
      </p:sp>
      <p:sp>
        <p:nvSpPr>
          <p:cNvPr id="3" name="Content Placeholder 2"/>
          <p:cNvSpPr>
            <a:spLocks noGrp="1"/>
          </p:cNvSpPr>
          <p:nvPr>
            <p:ph idx="1"/>
          </p:nvPr>
        </p:nvSpPr>
        <p:spPr/>
        <p:txBody>
          <a:bodyPr/>
          <a:lstStyle/>
          <a:p>
            <a:r>
              <a:rPr dirty="0"/>
              <a:t>Could the firm raise £10m from equity or junior debt?</a:t>
            </a:r>
          </a:p>
          <a:p>
            <a:endParaRPr dirty="0"/>
          </a:p>
          <a:p>
            <a:r>
              <a:rPr dirty="0"/>
              <a:t>Solution: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8BD5F-557D-A72A-3C7C-868F82581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85597-8842-A245-6136-272A2FAA0C0D}"/>
              </a:ext>
            </a:extLst>
          </p:cNvPr>
          <p:cNvSpPr>
            <a:spLocks noGrp="1"/>
          </p:cNvSpPr>
          <p:nvPr>
            <p:ph type="title"/>
          </p:nvPr>
        </p:nvSpPr>
        <p:spPr/>
        <p:txBody>
          <a:bodyPr/>
          <a:lstStyle/>
          <a:p>
            <a:r>
              <a:t>Q3(e)</a:t>
            </a:r>
          </a:p>
        </p:txBody>
      </p:sp>
      <p:sp>
        <p:nvSpPr>
          <p:cNvPr id="3" name="Content Placeholder 2">
            <a:extLst>
              <a:ext uri="{FF2B5EF4-FFF2-40B4-BE49-F238E27FC236}">
                <a16:creationId xmlns:a16="http://schemas.microsoft.com/office/drawing/2014/main" id="{F08C9671-E613-472E-5A9E-8EB7E6567B4C}"/>
              </a:ext>
            </a:extLst>
          </p:cNvPr>
          <p:cNvSpPr>
            <a:spLocks noGrp="1"/>
          </p:cNvSpPr>
          <p:nvPr>
            <p:ph idx="1"/>
          </p:nvPr>
        </p:nvSpPr>
        <p:spPr/>
        <p:txBody>
          <a:bodyPr/>
          <a:lstStyle/>
          <a:p>
            <a:r>
              <a:t>Could the firm raise £10m from equity or junior debt?</a:t>
            </a:r>
          </a:p>
          <a:p>
            <a:endParaRPr/>
          </a:p>
          <a:p>
            <a:r>
              <a:t>Solution:</a:t>
            </a:r>
          </a:p>
          <a:p>
            <a:r>
              <a:t>No. Equity gains £7.5m and debt gains £7.5m, so neither would invest £10m. This illustrates the debt overhang problem.</a:t>
            </a:r>
          </a:p>
        </p:txBody>
      </p:sp>
    </p:spTree>
    <p:extLst>
      <p:ext uri="{BB962C8B-B14F-4D97-AF65-F5344CB8AC3E}">
        <p14:creationId xmlns:p14="http://schemas.microsoft.com/office/powerpoint/2010/main" val="1276123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Q4(a)</a:t>
            </a:r>
          </a:p>
        </p:txBody>
      </p:sp>
      <p:sp>
        <p:nvSpPr>
          <p:cNvPr id="3" name="Content Placeholder 2"/>
          <p:cNvSpPr>
            <a:spLocks noGrp="1"/>
          </p:cNvSpPr>
          <p:nvPr>
            <p:ph idx="1"/>
          </p:nvPr>
        </p:nvSpPr>
        <p:spPr/>
        <p:txBody>
          <a:bodyPr>
            <a:normAutofit lnSpcReduction="10000"/>
          </a:bodyPr>
          <a:lstStyle/>
          <a:p>
            <a:r>
              <a:rPr lang="en-US" dirty="0"/>
              <a:t>A private company, LIME Inc. is being considered as a target by a private equity firm. The shareholders of LIME value the enterprise at $2,000 million. End of current year EBITDA is $250 million, and D&amp;A/Capex (i.e. D&amp;A/EBITDA) is 15%. The tax rate is 40%. The forecast holding period is 5 years. Forecast CAGR for EBITDA is 6.95% and the EV/EBITDA multiple after 5 years is expected to be10x. The financing of LIME includes senior and junior debt: Senior debt: 2.8x EBITDA ($700) at 5% interest (amortized out of annual net earnings) Junior debt: 1.6x EBITDA ($400) at 8.0% interest (with a bullet repayment)</a:t>
            </a:r>
            <a:r>
              <a:rPr dirty="0"/>
              <a:t>.</a:t>
            </a:r>
            <a:endParaRPr lang="en-US" dirty="0"/>
          </a:p>
          <a:p>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0EBBD-12F7-4ECD-F9F5-577428E5EB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5D8B6-E866-854D-E7F8-CAB76A99F93D}"/>
              </a:ext>
            </a:extLst>
          </p:cNvPr>
          <p:cNvSpPr>
            <a:spLocks noGrp="1"/>
          </p:cNvSpPr>
          <p:nvPr>
            <p:ph type="title"/>
          </p:nvPr>
        </p:nvSpPr>
        <p:spPr/>
        <p:txBody>
          <a:bodyPr/>
          <a:lstStyle/>
          <a:p>
            <a:r>
              <a:t>Q4(a)</a:t>
            </a:r>
          </a:p>
        </p:txBody>
      </p:sp>
      <p:sp>
        <p:nvSpPr>
          <p:cNvPr id="3" name="Content Placeholder 2">
            <a:extLst>
              <a:ext uri="{FF2B5EF4-FFF2-40B4-BE49-F238E27FC236}">
                <a16:creationId xmlns:a16="http://schemas.microsoft.com/office/drawing/2014/main" id="{D12F409B-6617-2C5D-9B2D-628CD48B4F61}"/>
              </a:ext>
            </a:extLst>
          </p:cNvPr>
          <p:cNvSpPr>
            <a:spLocks noGrp="1"/>
          </p:cNvSpPr>
          <p:nvPr>
            <p:ph idx="1"/>
          </p:nvPr>
        </p:nvSpPr>
        <p:spPr/>
        <p:txBody>
          <a:bodyPr>
            <a:normAutofit/>
          </a:bodyPr>
          <a:lstStyle/>
          <a:p>
            <a:r>
              <a:rPr lang="en-US" dirty="0"/>
              <a:t>LIME wants you to lay out the annual income statement and the annual financing of the company. In addition, show the valuation of the company now (</a:t>
            </a:r>
            <a:r>
              <a:rPr lang="en-US" dirty="0" err="1"/>
              <a:t>i.e</a:t>
            </a:r>
            <a:r>
              <a:rPr lang="en-US" dirty="0"/>
              <a:t> year 0) and in the year of exit. </a:t>
            </a:r>
            <a:endParaRPr dirty="0"/>
          </a:p>
        </p:txBody>
      </p:sp>
    </p:spTree>
    <p:extLst>
      <p:ext uri="{BB962C8B-B14F-4D97-AF65-F5344CB8AC3E}">
        <p14:creationId xmlns:p14="http://schemas.microsoft.com/office/powerpoint/2010/main" val="20820318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9D6BD-51E5-09A7-C5C1-772FBF991B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48C75-73B8-1EE9-BE98-F11DFDCEC386}"/>
              </a:ext>
            </a:extLst>
          </p:cNvPr>
          <p:cNvSpPr>
            <a:spLocks noGrp="1"/>
          </p:cNvSpPr>
          <p:nvPr>
            <p:ph type="title"/>
          </p:nvPr>
        </p:nvSpPr>
        <p:spPr/>
        <p:txBody>
          <a:bodyPr/>
          <a:lstStyle/>
          <a:p>
            <a:r>
              <a:t>Q4(a)</a:t>
            </a:r>
          </a:p>
        </p:txBody>
      </p:sp>
      <p:sp>
        <p:nvSpPr>
          <p:cNvPr id="3" name="Content Placeholder 2">
            <a:extLst>
              <a:ext uri="{FF2B5EF4-FFF2-40B4-BE49-F238E27FC236}">
                <a16:creationId xmlns:a16="http://schemas.microsoft.com/office/drawing/2014/main" id="{32E44615-9F16-A938-4306-7CE11AA0E341}"/>
              </a:ext>
            </a:extLst>
          </p:cNvPr>
          <p:cNvSpPr>
            <a:spLocks noGrp="1"/>
          </p:cNvSpPr>
          <p:nvPr>
            <p:ph idx="1"/>
          </p:nvPr>
        </p:nvSpPr>
        <p:spPr/>
        <p:txBody>
          <a:bodyPr/>
          <a:lstStyle/>
          <a:p>
            <a:r>
              <a:t>Private equity LBO analysis.</a:t>
            </a:r>
          </a:p>
          <a:p>
            <a:endParaRPr/>
          </a:p>
          <a:p>
            <a:r>
              <a:t>Solution:</a:t>
            </a:r>
          </a:p>
          <a:p>
            <a:r>
              <a:t>EBITDA grows from $250m to about $350m over 5 years.</a:t>
            </a:r>
          </a:p>
          <a:p>
            <a:r>
              <a:t>Senior debt amortizes from $700m to $85m.</a:t>
            </a:r>
          </a:p>
          <a:p>
            <a:r>
              <a:t>Junior debt remains $400m.</a:t>
            </a:r>
          </a:p>
          <a:p>
            <a:r>
              <a:t>Exit EV ≈ $3,498m.</a:t>
            </a:r>
          </a:p>
          <a:p>
            <a:r>
              <a:t>Equity value increases from $900m to about $3,013m.</a:t>
            </a:r>
          </a:p>
        </p:txBody>
      </p:sp>
    </p:spTree>
    <p:extLst>
      <p:ext uri="{BB962C8B-B14F-4D97-AF65-F5344CB8AC3E}">
        <p14:creationId xmlns:p14="http://schemas.microsoft.com/office/powerpoint/2010/main" val="773860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5B52B-137A-5A87-28EB-4F2AD73B1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D6F55-031C-E4E8-D043-8231B714FD49}"/>
              </a:ext>
            </a:extLst>
          </p:cNvPr>
          <p:cNvSpPr>
            <a:spLocks noGrp="1"/>
          </p:cNvSpPr>
          <p:nvPr>
            <p:ph type="title"/>
          </p:nvPr>
        </p:nvSpPr>
        <p:spPr/>
        <p:txBody>
          <a:bodyPr/>
          <a:lstStyle/>
          <a:p>
            <a:r>
              <a:t>Q4(a)</a:t>
            </a:r>
          </a:p>
        </p:txBody>
      </p:sp>
      <p:pic>
        <p:nvPicPr>
          <p:cNvPr id="6" name="Picture 5">
            <a:extLst>
              <a:ext uri="{FF2B5EF4-FFF2-40B4-BE49-F238E27FC236}">
                <a16:creationId xmlns:a16="http://schemas.microsoft.com/office/drawing/2014/main" id="{A49E0306-E93D-D674-AA1F-72133CFF9BF8}"/>
              </a:ext>
            </a:extLst>
          </p:cNvPr>
          <p:cNvPicPr>
            <a:picLocks noChangeAspect="1"/>
          </p:cNvPicPr>
          <p:nvPr/>
        </p:nvPicPr>
        <p:blipFill>
          <a:blip r:embed="rId3"/>
          <a:stretch>
            <a:fillRect/>
          </a:stretch>
        </p:blipFill>
        <p:spPr>
          <a:xfrm>
            <a:off x="1230543" y="1619250"/>
            <a:ext cx="9400190" cy="4629150"/>
          </a:xfrm>
          <a:prstGeom prst="rect">
            <a:avLst/>
          </a:prstGeom>
        </p:spPr>
      </p:pic>
    </p:spTree>
    <p:extLst>
      <p:ext uri="{BB962C8B-B14F-4D97-AF65-F5344CB8AC3E}">
        <p14:creationId xmlns:p14="http://schemas.microsoft.com/office/powerpoint/2010/main" val="27280655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Q4(b)</a:t>
            </a:r>
          </a:p>
        </p:txBody>
      </p:sp>
      <p:sp>
        <p:nvSpPr>
          <p:cNvPr id="3" name="Content Placeholder 2"/>
          <p:cNvSpPr>
            <a:spLocks noGrp="1"/>
          </p:cNvSpPr>
          <p:nvPr>
            <p:ph idx="1"/>
          </p:nvPr>
        </p:nvSpPr>
        <p:spPr/>
        <p:txBody>
          <a:bodyPr/>
          <a:lstStyle/>
          <a:p>
            <a:r>
              <a:rPr dirty="0"/>
              <a:t>Calculate IRRs.</a:t>
            </a:r>
          </a:p>
          <a:p>
            <a:endParaRPr dirty="0"/>
          </a:p>
          <a:p>
            <a:r>
              <a:rPr dirty="0"/>
              <a:t>Solution: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B16EB-09C0-C5F7-BC7B-FE59969C89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8152A-6C34-DCEB-4A4A-8B246539B14D}"/>
              </a:ext>
            </a:extLst>
          </p:cNvPr>
          <p:cNvSpPr>
            <a:spLocks noGrp="1"/>
          </p:cNvSpPr>
          <p:nvPr>
            <p:ph type="title"/>
          </p:nvPr>
        </p:nvSpPr>
        <p:spPr/>
        <p:txBody>
          <a:bodyPr/>
          <a:lstStyle/>
          <a:p>
            <a:r>
              <a:t>Q4(b)</a:t>
            </a:r>
          </a:p>
        </p:txBody>
      </p:sp>
      <p:sp>
        <p:nvSpPr>
          <p:cNvPr id="3" name="Content Placeholder 2">
            <a:extLst>
              <a:ext uri="{FF2B5EF4-FFF2-40B4-BE49-F238E27FC236}">
                <a16:creationId xmlns:a16="http://schemas.microsoft.com/office/drawing/2014/main" id="{821554D1-5E54-09C8-49F4-373FAA83DA50}"/>
              </a:ext>
            </a:extLst>
          </p:cNvPr>
          <p:cNvSpPr>
            <a:spLocks noGrp="1"/>
          </p:cNvSpPr>
          <p:nvPr>
            <p:ph idx="1"/>
          </p:nvPr>
        </p:nvSpPr>
        <p:spPr/>
        <p:txBody>
          <a:bodyPr/>
          <a:lstStyle/>
          <a:p>
            <a:r>
              <a:t>Calculate IRRs.</a:t>
            </a:r>
          </a:p>
          <a:p>
            <a:endParaRPr/>
          </a:p>
          <a:p>
            <a:r>
              <a:t>Solution:</a:t>
            </a:r>
          </a:p>
          <a:p>
            <a:r>
              <a:t>Enterprise IRR ≈ 11.8%.</a:t>
            </a:r>
          </a:p>
          <a:p>
            <a:r>
              <a:t>Equity IRR ≈ 27.3%.</a:t>
            </a:r>
          </a:p>
        </p:txBody>
      </p:sp>
    </p:spTree>
    <p:extLst>
      <p:ext uri="{BB962C8B-B14F-4D97-AF65-F5344CB8AC3E}">
        <p14:creationId xmlns:p14="http://schemas.microsoft.com/office/powerpoint/2010/main" val="33686798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Q4(c)</a:t>
            </a:r>
          </a:p>
        </p:txBody>
      </p:sp>
      <p:sp>
        <p:nvSpPr>
          <p:cNvPr id="3" name="Content Placeholder 2"/>
          <p:cNvSpPr>
            <a:spLocks noGrp="1"/>
          </p:cNvSpPr>
          <p:nvPr>
            <p:ph idx="1"/>
          </p:nvPr>
        </p:nvSpPr>
        <p:spPr/>
        <p:txBody>
          <a:bodyPr/>
          <a:lstStyle/>
          <a:p>
            <a:r>
              <a:rPr dirty="0"/>
              <a:t>WACC = 13%. Is acquisition attractive?</a:t>
            </a:r>
          </a:p>
          <a:p>
            <a:endParaRPr dirty="0"/>
          </a:p>
          <a:p>
            <a:r>
              <a:rPr dirty="0"/>
              <a:t>Solution: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C96B7-4DCD-D302-FF8A-88450CF7E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0973F7-EA94-EFF3-F776-AD174019C693}"/>
              </a:ext>
            </a:extLst>
          </p:cNvPr>
          <p:cNvSpPr>
            <a:spLocks noGrp="1"/>
          </p:cNvSpPr>
          <p:nvPr>
            <p:ph type="title"/>
          </p:nvPr>
        </p:nvSpPr>
        <p:spPr/>
        <p:txBody>
          <a:bodyPr/>
          <a:lstStyle/>
          <a:p>
            <a:r>
              <a:t>Q4(c)</a:t>
            </a:r>
          </a:p>
        </p:txBody>
      </p:sp>
      <p:sp>
        <p:nvSpPr>
          <p:cNvPr id="3" name="Content Placeholder 2">
            <a:extLst>
              <a:ext uri="{FF2B5EF4-FFF2-40B4-BE49-F238E27FC236}">
                <a16:creationId xmlns:a16="http://schemas.microsoft.com/office/drawing/2014/main" id="{B44CE091-F928-22BE-A75A-1B70005C9429}"/>
              </a:ext>
            </a:extLst>
          </p:cNvPr>
          <p:cNvSpPr>
            <a:spLocks noGrp="1"/>
          </p:cNvSpPr>
          <p:nvPr>
            <p:ph idx="1"/>
          </p:nvPr>
        </p:nvSpPr>
        <p:spPr/>
        <p:txBody>
          <a:bodyPr/>
          <a:lstStyle/>
          <a:p>
            <a:r>
              <a:t>WACC = 13%. Is acquisition attractive?</a:t>
            </a:r>
          </a:p>
          <a:p>
            <a:endParaRPr/>
          </a:p>
          <a:p>
            <a:r>
              <a:t>Solution:</a:t>
            </a:r>
          </a:p>
          <a:p>
            <a:r>
              <a:t>Enterprise IRR (11.8%) &lt; WACC → not attractive on enterprise basis.</a:t>
            </a:r>
          </a:p>
          <a:p>
            <a:r>
              <a:t>However equity IRR (27.3%) appears attractive because leverage magnifies returns. Proper comparison should match equity IRR with cost of equity.</a:t>
            </a:r>
          </a:p>
        </p:txBody>
      </p:sp>
    </p:spTree>
    <p:extLst>
      <p:ext uri="{BB962C8B-B14F-4D97-AF65-F5344CB8AC3E}">
        <p14:creationId xmlns:p14="http://schemas.microsoft.com/office/powerpoint/2010/main" val="24418917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Q4(d)</a:t>
            </a:r>
          </a:p>
        </p:txBody>
      </p:sp>
      <p:sp>
        <p:nvSpPr>
          <p:cNvPr id="3" name="Content Placeholder 2"/>
          <p:cNvSpPr>
            <a:spLocks noGrp="1"/>
          </p:cNvSpPr>
          <p:nvPr>
            <p:ph idx="1"/>
          </p:nvPr>
        </p:nvSpPr>
        <p:spPr/>
        <p:txBody>
          <a:bodyPr/>
          <a:lstStyle/>
          <a:p>
            <a:r>
              <a:rPr dirty="0"/>
              <a:t>Where have PE returns come from (Acharya &amp; Kehoe study)?</a:t>
            </a:r>
          </a:p>
          <a:p>
            <a:endParaRPr dirty="0"/>
          </a:p>
          <a:p>
            <a:r>
              <a:rPr dirty="0"/>
              <a:t>Solution: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5D17E-12C9-217C-CA71-D691D8D3CD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57A3B-3BE7-A828-9FB7-F7BD597B6EAA}"/>
              </a:ext>
            </a:extLst>
          </p:cNvPr>
          <p:cNvSpPr>
            <a:spLocks noGrp="1"/>
          </p:cNvSpPr>
          <p:nvPr>
            <p:ph type="title"/>
          </p:nvPr>
        </p:nvSpPr>
        <p:spPr/>
        <p:txBody>
          <a:bodyPr/>
          <a:lstStyle/>
          <a:p>
            <a:r>
              <a:t>Q4(d)</a:t>
            </a:r>
          </a:p>
        </p:txBody>
      </p:sp>
      <p:sp>
        <p:nvSpPr>
          <p:cNvPr id="3" name="Content Placeholder 2">
            <a:extLst>
              <a:ext uri="{FF2B5EF4-FFF2-40B4-BE49-F238E27FC236}">
                <a16:creationId xmlns:a16="http://schemas.microsoft.com/office/drawing/2014/main" id="{E4CC8B9A-AAE3-7C8E-B527-46F8FF7D2CAB}"/>
              </a:ext>
            </a:extLst>
          </p:cNvPr>
          <p:cNvSpPr>
            <a:spLocks noGrp="1"/>
          </p:cNvSpPr>
          <p:nvPr>
            <p:ph idx="1"/>
          </p:nvPr>
        </p:nvSpPr>
        <p:spPr/>
        <p:txBody>
          <a:bodyPr/>
          <a:lstStyle/>
          <a:p>
            <a:r>
              <a:t>Where have PE returns come from (Acharya &amp; Kehoe study)?</a:t>
            </a:r>
          </a:p>
          <a:p>
            <a:endParaRPr/>
          </a:p>
          <a:p>
            <a:r>
              <a:t>Solution:</a:t>
            </a:r>
          </a:p>
          <a:p>
            <a:r>
              <a:t>Returns largely driven by operational improvements (alpha), especially higher margins and productivity. Many successful deals replaced management and improved efficiency.</a:t>
            </a:r>
          </a:p>
        </p:txBody>
      </p:sp>
    </p:spTree>
    <p:extLst>
      <p:ext uri="{BB962C8B-B14F-4D97-AF65-F5344CB8AC3E}">
        <p14:creationId xmlns:p14="http://schemas.microsoft.com/office/powerpoint/2010/main" val="26313632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868AFF8-353C-14B9-5684-570A1531289A}"/>
              </a:ext>
            </a:extLst>
          </p:cNvPr>
          <p:cNvSpPr>
            <a:spLocks noGrp="1"/>
          </p:cNvSpPr>
          <p:nvPr>
            <p:ph type="ftr" sz="quarter" idx="11"/>
          </p:nvPr>
        </p:nvSpPr>
        <p:spPr/>
        <p:txBody>
          <a:bodyPr/>
          <a:lstStyle/>
          <a:p>
            <a:r>
              <a:rPr lang="en-US" dirty="0"/>
              <a:t>Mergers, MBOs &amp; Other Corp. Reorgs. </a:t>
            </a:r>
          </a:p>
        </p:txBody>
      </p:sp>
      <p:sp>
        <p:nvSpPr>
          <p:cNvPr id="3" name="Text Placeholder 2">
            <a:extLst>
              <a:ext uri="{FF2B5EF4-FFF2-40B4-BE49-F238E27FC236}">
                <a16:creationId xmlns:a16="http://schemas.microsoft.com/office/drawing/2014/main" id="{9B2E31C7-3F6A-8EAC-17B8-BCCD22B26715}"/>
              </a:ext>
            </a:extLst>
          </p:cNvPr>
          <p:cNvSpPr>
            <a:spLocks noGrp="1"/>
          </p:cNvSpPr>
          <p:nvPr>
            <p:ph type="body" sz="quarter" idx="14"/>
          </p:nvPr>
        </p:nvSpPr>
        <p:spPr/>
        <p:txBody>
          <a:bodyPr>
            <a:normAutofit/>
          </a:bodyPr>
          <a:lstStyle/>
          <a:p>
            <a:r>
              <a:rPr lang="en-GB" dirty="0">
                <a:solidFill>
                  <a:srgbClr val="0000FF"/>
                </a:solidFill>
              </a:rPr>
              <a:t>Session 1</a:t>
            </a:r>
          </a:p>
          <a:p>
            <a:pPr marL="285750" indent="-285750">
              <a:buFont typeface="Arial" panose="020B0604020202020204" pitchFamily="34" charset="0"/>
              <a:buChar char="•"/>
            </a:pPr>
            <a:r>
              <a:rPr lang="en-GB" dirty="0"/>
              <a:t>Introduction to M&amp;A (Merger vocabulary; M&amp;A market and cast of characters; deal analysis: synergies, means of payment; valuation methods for M&amp;A)</a:t>
            </a:r>
          </a:p>
          <a:p>
            <a:pPr marL="742950" lvl="1" indent="-285750">
              <a:buFont typeface="Arial" panose="020B0604020202020204" pitchFamily="34" charset="0"/>
              <a:buChar char="•"/>
            </a:pPr>
            <a:endParaRPr lang="en-GB" dirty="0"/>
          </a:p>
          <a:p>
            <a:r>
              <a:rPr lang="en-GB" dirty="0">
                <a:solidFill>
                  <a:srgbClr val="0000FF"/>
                </a:solidFill>
              </a:rPr>
              <a:t>Session 2</a:t>
            </a:r>
          </a:p>
          <a:p>
            <a:pPr marL="285750" indent="-285750">
              <a:buFont typeface="Arial" panose="020B0604020202020204" pitchFamily="34" charset="0"/>
              <a:buChar char="•"/>
            </a:pPr>
            <a:r>
              <a:rPr lang="en-GB" dirty="0"/>
              <a:t>M&amp;A performance and value creation: evidence; the value of control</a:t>
            </a:r>
          </a:p>
          <a:p>
            <a:pPr marL="285750" indent="-285750">
              <a:buFont typeface="Arial" panose="020B0604020202020204" pitchFamily="34" charset="0"/>
              <a:buChar char="•"/>
            </a:pPr>
            <a:r>
              <a:rPr lang="en-GB" dirty="0">
                <a:solidFill>
                  <a:srgbClr val="00B050"/>
                </a:solidFill>
              </a:rPr>
              <a:t>Case study</a:t>
            </a:r>
            <a:r>
              <a:rPr lang="en-GB" dirty="0"/>
              <a:t>: Roche-Genentech (The Swiss pharmaceutical company was a majority owner of US biotech firm Genentech from the early 90s. It is considering making a tender offer for the remaining part of Genentech that it doesn’t own. What is the logic of this merger? What are the valuation and governance issues that arise?)</a:t>
            </a:r>
          </a:p>
          <a:p>
            <a:pPr marL="742950" lvl="1" indent="-285750">
              <a:buFont typeface="Arial" panose="020B0604020202020204" pitchFamily="34" charset="0"/>
              <a:buChar char="•"/>
            </a:pPr>
            <a:endParaRPr lang="en-GB" dirty="0"/>
          </a:p>
          <a:p>
            <a:r>
              <a:rPr lang="en-GB" dirty="0">
                <a:solidFill>
                  <a:srgbClr val="0000FF"/>
                </a:solidFill>
              </a:rPr>
              <a:t>Session 3</a:t>
            </a:r>
          </a:p>
          <a:p>
            <a:pPr marL="285750" indent="-285750">
              <a:buFont typeface="Arial" panose="020B0604020202020204" pitchFamily="34" charset="0"/>
              <a:buChar char="•"/>
            </a:pPr>
            <a:r>
              <a:rPr lang="en-GB" dirty="0"/>
              <a:t>Setting deal terms, bidding tactics in M&amp;A</a:t>
            </a:r>
          </a:p>
          <a:p>
            <a:pPr marL="285750" indent="-285750">
              <a:buFont typeface="Arial" panose="020B0604020202020204" pitchFamily="34" charset="0"/>
              <a:buChar char="•"/>
            </a:pPr>
            <a:r>
              <a:rPr lang="en-GB" dirty="0">
                <a:solidFill>
                  <a:srgbClr val="00B050"/>
                </a:solidFill>
              </a:rPr>
              <a:t>Case study</a:t>
            </a:r>
            <a:r>
              <a:rPr lang="en-GB" dirty="0"/>
              <a:t>: Buffett's Bid for Media General's Newspapers (Berkshire Hathaway wants to acquire Media General’s newspaper division. Why is Buffett interested in this company which is in an industry in decline?)</a:t>
            </a:r>
          </a:p>
        </p:txBody>
      </p:sp>
      <p:sp>
        <p:nvSpPr>
          <p:cNvPr id="4" name="Title 3">
            <a:extLst>
              <a:ext uri="{FF2B5EF4-FFF2-40B4-BE49-F238E27FC236}">
                <a16:creationId xmlns:a16="http://schemas.microsoft.com/office/drawing/2014/main" id="{BFC0E4C1-2BC5-C138-A46B-8417D5016019}"/>
              </a:ext>
            </a:extLst>
          </p:cNvPr>
          <p:cNvSpPr>
            <a:spLocks noGrp="1"/>
          </p:cNvSpPr>
          <p:nvPr>
            <p:ph type="title"/>
          </p:nvPr>
        </p:nvSpPr>
        <p:spPr/>
        <p:txBody>
          <a:bodyPr/>
          <a:lstStyle/>
          <a:p>
            <a:r>
              <a:rPr lang="en-SE" dirty="0"/>
              <a:t>Key issues that we will discuss</a:t>
            </a:r>
          </a:p>
        </p:txBody>
      </p:sp>
      <p:sp>
        <p:nvSpPr>
          <p:cNvPr id="5" name="Text Placeholder 4">
            <a:extLst>
              <a:ext uri="{FF2B5EF4-FFF2-40B4-BE49-F238E27FC236}">
                <a16:creationId xmlns:a16="http://schemas.microsoft.com/office/drawing/2014/main" id="{A869181B-C4CB-DA3E-3F73-0C73B29784B2}"/>
              </a:ext>
            </a:extLst>
          </p:cNvPr>
          <p:cNvSpPr>
            <a:spLocks noGrp="1"/>
          </p:cNvSpPr>
          <p:nvPr>
            <p:ph type="body" sz="quarter" idx="13"/>
          </p:nvPr>
        </p:nvSpPr>
        <p:spPr/>
        <p:txBody>
          <a:bodyPr/>
          <a:lstStyle/>
          <a:p>
            <a:endParaRPr lang="en-SE"/>
          </a:p>
        </p:txBody>
      </p:sp>
    </p:spTree>
    <p:extLst>
      <p:ext uri="{BB962C8B-B14F-4D97-AF65-F5344CB8AC3E}">
        <p14:creationId xmlns:p14="http://schemas.microsoft.com/office/powerpoint/2010/main" val="111824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F11C4-E83E-50E6-EBF2-18E466AE135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819C4E53-7F14-30B9-8AC3-0E12C04C3861}"/>
              </a:ext>
            </a:extLst>
          </p:cNvPr>
          <p:cNvSpPr>
            <a:spLocks noGrp="1"/>
          </p:cNvSpPr>
          <p:nvPr>
            <p:ph type="ftr" sz="quarter" idx="11"/>
          </p:nvPr>
        </p:nvSpPr>
        <p:spPr/>
        <p:txBody>
          <a:bodyPr/>
          <a:lstStyle/>
          <a:p>
            <a:r>
              <a:rPr lang="en-US" dirty="0"/>
              <a:t>Mergers, MBOs &amp; Other Corp. Reorgs.</a:t>
            </a:r>
          </a:p>
        </p:txBody>
      </p:sp>
      <p:sp>
        <p:nvSpPr>
          <p:cNvPr id="3" name="Text Placeholder 2">
            <a:extLst>
              <a:ext uri="{FF2B5EF4-FFF2-40B4-BE49-F238E27FC236}">
                <a16:creationId xmlns:a16="http://schemas.microsoft.com/office/drawing/2014/main" id="{70D818C6-39B1-CF9E-E74C-4A500278472F}"/>
              </a:ext>
            </a:extLst>
          </p:cNvPr>
          <p:cNvSpPr>
            <a:spLocks noGrp="1"/>
          </p:cNvSpPr>
          <p:nvPr>
            <p:ph type="body" sz="quarter" idx="14"/>
          </p:nvPr>
        </p:nvSpPr>
        <p:spPr/>
        <p:txBody>
          <a:bodyPr>
            <a:normAutofit/>
          </a:bodyPr>
          <a:lstStyle/>
          <a:p>
            <a:r>
              <a:rPr lang="en-GB" dirty="0">
                <a:solidFill>
                  <a:srgbClr val="0000FF"/>
                </a:solidFill>
              </a:rPr>
              <a:t>Session 4</a:t>
            </a:r>
          </a:p>
          <a:p>
            <a:pPr marL="285750" indent="-285750">
              <a:buFont typeface="Arial" panose="020B0604020202020204" pitchFamily="34" charset="0"/>
              <a:buChar char="•"/>
            </a:pPr>
            <a:r>
              <a:rPr lang="en-GB" dirty="0"/>
              <a:t>Regulatory aspects and advisory fees in M&amp;A</a:t>
            </a:r>
          </a:p>
          <a:p>
            <a:pPr marL="285750" indent="-285750">
              <a:buFont typeface="Arial" panose="020B0604020202020204" pitchFamily="34" charset="0"/>
              <a:buChar char="•"/>
            </a:pPr>
            <a:r>
              <a:rPr lang="en-GB" dirty="0"/>
              <a:t>Financial distress, debt overhang, out-of-court restructuring</a:t>
            </a:r>
          </a:p>
          <a:p>
            <a:pPr marL="742950" lvl="1" indent="-285750">
              <a:buFont typeface="Arial" panose="020B0604020202020204" pitchFamily="34" charset="0"/>
              <a:buChar char="•"/>
            </a:pPr>
            <a:endParaRPr lang="en-GB" dirty="0"/>
          </a:p>
          <a:p>
            <a:r>
              <a:rPr lang="en-GB" dirty="0">
                <a:solidFill>
                  <a:srgbClr val="0000FF"/>
                </a:solidFill>
              </a:rPr>
              <a:t>Session 5</a:t>
            </a:r>
          </a:p>
          <a:p>
            <a:pPr marL="285750" indent="-285750">
              <a:buFont typeface="Arial" panose="020B0604020202020204" pitchFamily="34" charset="0"/>
              <a:buChar char="•"/>
            </a:pPr>
            <a:r>
              <a:rPr lang="en-GB" dirty="0">
                <a:solidFill>
                  <a:srgbClr val="00B050"/>
                </a:solidFill>
              </a:rPr>
              <a:t>Case study</a:t>
            </a:r>
            <a:r>
              <a:rPr lang="en-GB" dirty="0"/>
              <a:t>: Preem (The refinery Corral/ Preem is in financial distress and must quickly restructure its debt out-of-court to avoid a liquidation of the business.)</a:t>
            </a:r>
          </a:p>
          <a:p>
            <a:pPr marL="285750" indent="-285750">
              <a:buFont typeface="Arial" panose="020B0604020202020204" pitchFamily="34" charset="0"/>
              <a:buChar char="•"/>
            </a:pPr>
            <a:r>
              <a:rPr lang="en-GB" dirty="0">
                <a:solidFill>
                  <a:srgbClr val="7030A0"/>
                </a:solidFill>
              </a:rPr>
              <a:t>Guest Lecture</a:t>
            </a:r>
          </a:p>
          <a:p>
            <a:pPr marL="742950" lvl="1" indent="-285750">
              <a:buFont typeface="Arial" panose="020B0604020202020204" pitchFamily="34" charset="0"/>
              <a:buChar char="•"/>
            </a:pPr>
            <a:endParaRPr lang="en-GB" dirty="0"/>
          </a:p>
          <a:p>
            <a:r>
              <a:rPr lang="en-GB" dirty="0">
                <a:solidFill>
                  <a:srgbClr val="0000FF"/>
                </a:solidFill>
              </a:rPr>
              <a:t>Session 6</a:t>
            </a:r>
          </a:p>
          <a:p>
            <a:pPr marL="285750" indent="-285750">
              <a:buFont typeface="Arial" panose="020B0604020202020204" pitchFamily="34" charset="0"/>
              <a:buChar char="•"/>
            </a:pPr>
            <a:r>
              <a:rPr lang="en-GB" dirty="0"/>
              <a:t>Distressed restructuring inside bankruptcy</a:t>
            </a:r>
          </a:p>
          <a:p>
            <a:pPr marL="285750" indent="-285750">
              <a:buFont typeface="Arial" panose="020B0604020202020204" pitchFamily="34" charset="0"/>
              <a:buChar char="•"/>
            </a:pPr>
            <a:r>
              <a:rPr lang="en-GB" dirty="0">
                <a:solidFill>
                  <a:srgbClr val="00B050"/>
                </a:solidFill>
              </a:rPr>
              <a:t>Case study</a:t>
            </a:r>
            <a:r>
              <a:rPr lang="en-GB" dirty="0"/>
              <a:t>: Latam Airlines (In 2020, Latam Airlines became the largest airline in the world to be driven to bankruptcy by COVID-19. With a complex debt structure and international investor composition, the company decided to file for bankruptcy protection in the U.S.)</a:t>
            </a:r>
            <a:endParaRPr lang="en-SE" dirty="0"/>
          </a:p>
        </p:txBody>
      </p:sp>
      <p:sp>
        <p:nvSpPr>
          <p:cNvPr id="4" name="Title 3">
            <a:extLst>
              <a:ext uri="{FF2B5EF4-FFF2-40B4-BE49-F238E27FC236}">
                <a16:creationId xmlns:a16="http://schemas.microsoft.com/office/drawing/2014/main" id="{339FC21C-9932-7EAE-5C56-3EE7BFB3FA76}"/>
              </a:ext>
            </a:extLst>
          </p:cNvPr>
          <p:cNvSpPr>
            <a:spLocks noGrp="1"/>
          </p:cNvSpPr>
          <p:nvPr>
            <p:ph type="title"/>
          </p:nvPr>
        </p:nvSpPr>
        <p:spPr/>
        <p:txBody>
          <a:bodyPr/>
          <a:lstStyle/>
          <a:p>
            <a:r>
              <a:rPr lang="en-SE" dirty="0"/>
              <a:t>Key issues that we will discuss</a:t>
            </a:r>
          </a:p>
        </p:txBody>
      </p:sp>
      <p:sp>
        <p:nvSpPr>
          <p:cNvPr id="5" name="Text Placeholder 4">
            <a:extLst>
              <a:ext uri="{FF2B5EF4-FFF2-40B4-BE49-F238E27FC236}">
                <a16:creationId xmlns:a16="http://schemas.microsoft.com/office/drawing/2014/main" id="{77AD65D0-B824-6326-D0B6-998B1EC512A5}"/>
              </a:ext>
            </a:extLst>
          </p:cNvPr>
          <p:cNvSpPr>
            <a:spLocks noGrp="1"/>
          </p:cNvSpPr>
          <p:nvPr>
            <p:ph type="body" sz="quarter" idx="13"/>
          </p:nvPr>
        </p:nvSpPr>
        <p:spPr/>
        <p:txBody>
          <a:bodyPr/>
          <a:lstStyle/>
          <a:p>
            <a:endParaRPr lang="en-SE"/>
          </a:p>
        </p:txBody>
      </p:sp>
    </p:spTree>
    <p:extLst>
      <p:ext uri="{BB962C8B-B14F-4D97-AF65-F5344CB8AC3E}">
        <p14:creationId xmlns:p14="http://schemas.microsoft.com/office/powerpoint/2010/main" val="9254116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2198DD6-7106-730B-30A5-42E01CF08288}"/>
              </a:ext>
            </a:extLst>
          </p:cNvPr>
          <p:cNvSpPr>
            <a:spLocks noGrp="1"/>
          </p:cNvSpPr>
          <p:nvPr>
            <p:ph type="ftr" sz="quarter" idx="11"/>
          </p:nvPr>
        </p:nvSpPr>
        <p:spPr/>
        <p:txBody>
          <a:bodyPr/>
          <a:lstStyle/>
          <a:p>
            <a:r>
              <a:rPr lang="en-US" dirty="0"/>
              <a:t>Mergers, MBOs &amp; Other Corp. Reorgs. </a:t>
            </a:r>
          </a:p>
        </p:txBody>
      </p:sp>
      <p:sp>
        <p:nvSpPr>
          <p:cNvPr id="3" name="Text Placeholder 2">
            <a:extLst>
              <a:ext uri="{FF2B5EF4-FFF2-40B4-BE49-F238E27FC236}">
                <a16:creationId xmlns:a16="http://schemas.microsoft.com/office/drawing/2014/main" id="{EF73737F-9F83-69F1-5C97-EEF9D31F5DB6}"/>
              </a:ext>
            </a:extLst>
          </p:cNvPr>
          <p:cNvSpPr>
            <a:spLocks noGrp="1"/>
          </p:cNvSpPr>
          <p:nvPr>
            <p:ph type="body" sz="quarter" idx="14"/>
          </p:nvPr>
        </p:nvSpPr>
        <p:spPr/>
        <p:txBody>
          <a:bodyPr>
            <a:normAutofit/>
          </a:bodyPr>
          <a:lstStyle/>
          <a:p>
            <a:r>
              <a:rPr lang="en-SE" dirty="0">
                <a:solidFill>
                  <a:srgbClr val="0000FF"/>
                </a:solidFill>
              </a:rPr>
              <a:t>Session 7</a:t>
            </a:r>
          </a:p>
          <a:p>
            <a:pPr marL="285750" indent="-285750">
              <a:buFont typeface="Arial" panose="020B0604020202020204" pitchFamily="34" charset="0"/>
              <a:buChar char="•"/>
            </a:pPr>
            <a:r>
              <a:rPr lang="en-GB" dirty="0"/>
              <a:t>Different forms of ownership and governance across countries; how ownership influences control transactions, e.g., mergers; regulatory protection of minority shareholders </a:t>
            </a:r>
          </a:p>
          <a:p>
            <a:pPr marL="742950" lvl="1" indent="-285750">
              <a:buFont typeface="Arial" panose="020B0604020202020204" pitchFamily="34" charset="0"/>
              <a:buChar char="•"/>
            </a:pPr>
            <a:endParaRPr lang="en-GB" dirty="0"/>
          </a:p>
          <a:p>
            <a:r>
              <a:rPr lang="en-GB" dirty="0">
                <a:solidFill>
                  <a:srgbClr val="0000FF"/>
                </a:solidFill>
              </a:rPr>
              <a:t>Session 8</a:t>
            </a:r>
          </a:p>
          <a:p>
            <a:pPr marL="285750" indent="-285750">
              <a:buFont typeface="Arial" panose="020B0604020202020204" pitchFamily="34" charset="0"/>
              <a:buChar char="•"/>
            </a:pPr>
            <a:r>
              <a:rPr lang="en-GB" dirty="0"/>
              <a:t>Shareholder activism by hedge funds. Who are the activists? How does it work &amp; what are the outcomes? </a:t>
            </a:r>
          </a:p>
          <a:p>
            <a:pPr marL="285750" indent="-285750">
              <a:buFont typeface="Arial" panose="020B0604020202020204" pitchFamily="34" charset="0"/>
              <a:buChar char="•"/>
            </a:pPr>
            <a:r>
              <a:rPr lang="en-GB" dirty="0">
                <a:solidFill>
                  <a:srgbClr val="7030A0"/>
                </a:solidFill>
              </a:rPr>
              <a:t>Guest lecture </a:t>
            </a:r>
            <a:endParaRPr lang="en-GB" dirty="0"/>
          </a:p>
          <a:p>
            <a:r>
              <a:rPr lang="en-GB" dirty="0">
                <a:solidFill>
                  <a:srgbClr val="0000FF"/>
                </a:solidFill>
              </a:rPr>
              <a:t>Session 9</a:t>
            </a:r>
          </a:p>
          <a:p>
            <a:pPr marL="285750" indent="-285750">
              <a:buFont typeface="Arial" panose="020B0604020202020204" pitchFamily="34" charset="0"/>
              <a:buChar char="•"/>
            </a:pPr>
            <a:r>
              <a:rPr lang="en-GB" dirty="0"/>
              <a:t>Shareholder activism by active and passive asset managers</a:t>
            </a:r>
          </a:p>
          <a:p>
            <a:pPr marL="285750" indent="-285750">
              <a:buFont typeface="Arial" panose="020B0604020202020204" pitchFamily="34" charset="0"/>
              <a:buChar char="•"/>
            </a:pPr>
            <a:r>
              <a:rPr lang="en-GB" dirty="0"/>
              <a:t>Private Equity: structure of PE transactions, incentives and performance </a:t>
            </a:r>
          </a:p>
          <a:p>
            <a:pPr marL="742950" lvl="1" indent="-285750">
              <a:buFont typeface="Arial" panose="020B0604020202020204" pitchFamily="34" charset="0"/>
              <a:buChar char="•"/>
            </a:pPr>
            <a:endParaRPr lang="en-GB" dirty="0"/>
          </a:p>
          <a:p>
            <a:r>
              <a:rPr lang="en-GB" dirty="0">
                <a:solidFill>
                  <a:srgbClr val="0000FF"/>
                </a:solidFill>
              </a:rPr>
              <a:t>Session 10</a:t>
            </a:r>
          </a:p>
          <a:p>
            <a:pPr marL="285750" indent="-285750">
              <a:buFont typeface="Arial" panose="020B0604020202020204" pitchFamily="34" charset="0"/>
              <a:buChar char="•"/>
            </a:pPr>
            <a:r>
              <a:rPr lang="en-GB" dirty="0">
                <a:solidFill>
                  <a:srgbClr val="7030A0"/>
                </a:solidFill>
              </a:rPr>
              <a:t>Guest lecture </a:t>
            </a:r>
          </a:p>
          <a:p>
            <a:pPr marL="285750" indent="-285750">
              <a:buFont typeface="Arial" panose="020B0604020202020204" pitchFamily="34" charset="0"/>
              <a:buChar char="•"/>
            </a:pPr>
            <a:r>
              <a:rPr lang="en-GB" dirty="0"/>
              <a:t>Conglomerates, virtues and vices</a:t>
            </a:r>
          </a:p>
        </p:txBody>
      </p:sp>
      <p:sp>
        <p:nvSpPr>
          <p:cNvPr id="4" name="Title 3">
            <a:extLst>
              <a:ext uri="{FF2B5EF4-FFF2-40B4-BE49-F238E27FC236}">
                <a16:creationId xmlns:a16="http://schemas.microsoft.com/office/drawing/2014/main" id="{5678DBA3-5C2A-9690-01A8-D991E1415612}"/>
              </a:ext>
            </a:extLst>
          </p:cNvPr>
          <p:cNvSpPr>
            <a:spLocks noGrp="1"/>
          </p:cNvSpPr>
          <p:nvPr>
            <p:ph type="title"/>
          </p:nvPr>
        </p:nvSpPr>
        <p:spPr/>
        <p:txBody>
          <a:bodyPr/>
          <a:lstStyle/>
          <a:p>
            <a:r>
              <a:rPr lang="en-SE" dirty="0"/>
              <a:t>Key issues that we will discuss</a:t>
            </a:r>
          </a:p>
        </p:txBody>
      </p:sp>
      <p:sp>
        <p:nvSpPr>
          <p:cNvPr id="5" name="Text Placeholder 4">
            <a:extLst>
              <a:ext uri="{FF2B5EF4-FFF2-40B4-BE49-F238E27FC236}">
                <a16:creationId xmlns:a16="http://schemas.microsoft.com/office/drawing/2014/main" id="{FCE35046-A634-4BB8-3E12-00FC7A039A6A}"/>
              </a:ext>
            </a:extLst>
          </p:cNvPr>
          <p:cNvSpPr>
            <a:spLocks noGrp="1"/>
          </p:cNvSpPr>
          <p:nvPr>
            <p:ph type="body" sz="quarter" idx="13"/>
          </p:nvPr>
        </p:nvSpPr>
        <p:spPr/>
        <p:txBody>
          <a:bodyPr/>
          <a:lstStyle/>
          <a:p>
            <a:endParaRPr lang="en-SE"/>
          </a:p>
        </p:txBody>
      </p:sp>
    </p:spTree>
    <p:extLst>
      <p:ext uri="{BB962C8B-B14F-4D97-AF65-F5344CB8AC3E}">
        <p14:creationId xmlns:p14="http://schemas.microsoft.com/office/powerpoint/2010/main" val="38800455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274A1-BF25-B615-F3BC-860E0DDFA66B}"/>
            </a:ext>
          </a:extLst>
        </p:cNvPr>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585768D5-9B6E-1DFA-7A7B-DE521E063A80}"/>
              </a:ext>
            </a:extLst>
          </p:cNvPr>
          <p:cNvSpPr>
            <a:spLocks noGrp="1"/>
          </p:cNvSpPr>
          <p:nvPr>
            <p:ph type="sldNum" sz="quarter" idx="12"/>
          </p:nvPr>
        </p:nvSpPr>
        <p:spPr>
          <a:xfrm>
            <a:off x="10885800" y="6303993"/>
            <a:ext cx="468000" cy="324000"/>
          </a:xfrm>
          <a:prstGeom prst="rect">
            <a:avLst/>
          </a:prstGeom>
          <a:solidFill>
            <a:schemeClr val="tx1"/>
          </a:solidFill>
        </p:spPr>
        <p:txBody>
          <a:bodyPr vert="horz" lIns="91440" tIns="45720" rIns="91440" bIns="45720" rtlCol="0" anchor="ctr"/>
          <a:lstStyle>
            <a:defPPr>
              <a:defRPr lang="en-US"/>
            </a:defPPr>
            <a:lvl1pPr marL="0" algn="r" defTabSz="914400" rtl="0" eaLnBrk="1" latinLnBrk="0" hangingPunct="1">
              <a:defRPr sz="900" b="1" kern="1200">
                <a:solidFill>
                  <a:schemeClr val="accent2">
                    <a:lumMod val="20000"/>
                    <a:lumOff val="80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97EA6E0-ACB3-C744-814F-68814E5220CF}" type="slidenum">
              <a:rPr lang="en-US" smtClean="0"/>
              <a:pPr/>
              <a:t>48</a:t>
            </a:fld>
            <a:endParaRPr lang="en-US" dirty="0"/>
          </a:p>
        </p:txBody>
      </p:sp>
      <p:sp>
        <p:nvSpPr>
          <p:cNvPr id="4" name="Text Placeholder 3">
            <a:extLst>
              <a:ext uri="{FF2B5EF4-FFF2-40B4-BE49-F238E27FC236}">
                <a16:creationId xmlns:a16="http://schemas.microsoft.com/office/drawing/2014/main" id="{F1ED3CAC-4D5F-D97A-7172-D88DFA41CEF4}"/>
              </a:ext>
            </a:extLst>
          </p:cNvPr>
          <p:cNvSpPr>
            <a:spLocks noGrp="1"/>
          </p:cNvSpPr>
          <p:nvPr>
            <p:ph type="body" sz="quarter" idx="14"/>
          </p:nvPr>
        </p:nvSpPr>
        <p:spPr/>
        <p:txBody>
          <a:bodyPr/>
          <a:lstStyle/>
          <a:p>
            <a:pPr marL="0" lvl="1">
              <a:spcBef>
                <a:spcPts val="0"/>
              </a:spcBef>
            </a:pPr>
            <a:r>
              <a:rPr lang="en-US" altLang="zh-CN" sz="2000" b="1" dirty="0"/>
              <a:t>Synergies</a:t>
            </a:r>
            <a:r>
              <a:rPr lang="en-US" altLang="zh-CN" sz="2000" dirty="0"/>
              <a:t>: Combined </a:t>
            </a:r>
            <a:r>
              <a:rPr lang="en-US" altLang="en-US" sz="2000" dirty="0"/>
              <a:t>firm is more valuable than the merging firms separately</a:t>
            </a:r>
          </a:p>
          <a:p>
            <a:pPr marL="0" lvl="1">
              <a:spcBef>
                <a:spcPts val="0"/>
              </a:spcBef>
            </a:pPr>
            <a:endParaRPr lang="en-US" altLang="zh-CN" sz="2000" dirty="0"/>
          </a:p>
          <a:p>
            <a:pPr marL="685800" lvl="1" indent="-342900">
              <a:spcBef>
                <a:spcPts val="0"/>
              </a:spcBef>
              <a:buFont typeface="Arial" panose="020B0604020202020204" pitchFamily="34" charset="0"/>
              <a:buChar char="•"/>
            </a:pPr>
            <a:r>
              <a:rPr lang="en-US" altLang="en-US" sz="2000" dirty="0"/>
              <a:t>Revenue synergies</a:t>
            </a:r>
          </a:p>
          <a:p>
            <a:pPr marL="685800" lvl="1" indent="-342900">
              <a:spcBef>
                <a:spcPts val="0"/>
              </a:spcBef>
              <a:buFont typeface="Arial" panose="020B0604020202020204" pitchFamily="34" charset="0"/>
              <a:buChar char="•"/>
            </a:pPr>
            <a:r>
              <a:rPr lang="en-US" altLang="en-US" sz="2000" dirty="0"/>
              <a:t>Cost synergies</a:t>
            </a:r>
          </a:p>
          <a:p>
            <a:pPr marL="685800" lvl="1" indent="-342900">
              <a:spcBef>
                <a:spcPts val="0"/>
              </a:spcBef>
              <a:buFont typeface="Arial" panose="020B0604020202020204" pitchFamily="34" charset="0"/>
              <a:buChar char="•"/>
            </a:pPr>
            <a:r>
              <a:rPr lang="en-US" altLang="en-US" sz="2000" dirty="0"/>
              <a:t>Tax gains</a:t>
            </a:r>
          </a:p>
          <a:p>
            <a:pPr marL="685800" lvl="1" indent="-342900">
              <a:spcBef>
                <a:spcPts val="0"/>
              </a:spcBef>
              <a:buFont typeface="Arial" panose="020B0604020202020204" pitchFamily="34" charset="0"/>
              <a:buChar char="•"/>
            </a:pPr>
            <a:r>
              <a:rPr lang="en-US" altLang="en-US" sz="2000" dirty="0"/>
              <a:t>Financing gains</a:t>
            </a:r>
          </a:p>
          <a:p>
            <a:pPr lvl="1">
              <a:spcBef>
                <a:spcPts val="0"/>
              </a:spcBef>
            </a:pPr>
            <a:endParaRPr lang="en-US" altLang="en-US" sz="2000" dirty="0"/>
          </a:p>
          <a:p>
            <a:pPr lvl="1">
              <a:spcBef>
                <a:spcPts val="0"/>
              </a:spcBef>
            </a:pPr>
            <a:endParaRPr lang="en-US" altLang="en-US" sz="2000" dirty="0"/>
          </a:p>
          <a:p>
            <a:pPr>
              <a:spcBef>
                <a:spcPts val="0"/>
              </a:spcBef>
            </a:pPr>
            <a:r>
              <a:rPr lang="en-US" altLang="en-US" sz="2000" b="1" dirty="0"/>
              <a:t>Agency</a:t>
            </a:r>
          </a:p>
          <a:p>
            <a:pPr>
              <a:spcBef>
                <a:spcPts val="0"/>
              </a:spcBef>
            </a:pPr>
            <a:endParaRPr lang="en-US" altLang="en-US" sz="2000" b="1" dirty="0"/>
          </a:p>
          <a:p>
            <a:pPr marL="685800" lvl="1" indent="-342900">
              <a:spcBef>
                <a:spcPts val="0"/>
              </a:spcBef>
              <a:buFont typeface="Arial" panose="020B0604020202020204" pitchFamily="34" charset="0"/>
              <a:buChar char="•"/>
            </a:pPr>
            <a:r>
              <a:rPr lang="en-US" altLang="en-US" sz="2000" dirty="0"/>
              <a:t>Market for corporate control</a:t>
            </a:r>
          </a:p>
          <a:p>
            <a:pPr marL="685800" lvl="1" indent="-342900">
              <a:spcBef>
                <a:spcPts val="0"/>
              </a:spcBef>
              <a:buFont typeface="Arial" panose="020B0604020202020204" pitchFamily="34" charset="0"/>
              <a:buChar char="•"/>
            </a:pPr>
            <a:r>
              <a:rPr lang="en-US" altLang="en-US" sz="2000" dirty="0"/>
              <a:t>Empire building</a:t>
            </a:r>
          </a:p>
          <a:p>
            <a:pPr marL="685800" lvl="1" indent="-342900">
              <a:spcBef>
                <a:spcPts val="0"/>
              </a:spcBef>
              <a:buFont typeface="Arial" panose="020B0604020202020204" pitchFamily="34" charset="0"/>
              <a:buChar char="•"/>
            </a:pPr>
            <a:r>
              <a:rPr lang="en-US" altLang="en-US" sz="2000" dirty="0"/>
              <a:t>Overconfidence</a:t>
            </a:r>
          </a:p>
          <a:p>
            <a:endParaRPr lang="en-US" dirty="0"/>
          </a:p>
        </p:txBody>
      </p:sp>
      <p:sp>
        <p:nvSpPr>
          <p:cNvPr id="2" name="Title 1">
            <a:extLst>
              <a:ext uri="{FF2B5EF4-FFF2-40B4-BE49-F238E27FC236}">
                <a16:creationId xmlns:a16="http://schemas.microsoft.com/office/drawing/2014/main" id="{00752A5E-F7B0-AD4E-B3A8-207C7A0896E9}"/>
              </a:ext>
            </a:extLst>
          </p:cNvPr>
          <p:cNvSpPr>
            <a:spLocks noGrp="1"/>
          </p:cNvSpPr>
          <p:nvPr>
            <p:ph type="title"/>
          </p:nvPr>
        </p:nvSpPr>
        <p:spPr/>
        <p:txBody>
          <a:bodyPr>
            <a:normAutofit/>
          </a:bodyPr>
          <a:lstStyle/>
          <a:p>
            <a:r>
              <a:rPr lang="en-US"/>
              <a:t>Mergers and Acquisitions</a:t>
            </a:r>
            <a:endParaRPr lang="en-US" dirty="0"/>
          </a:p>
        </p:txBody>
      </p:sp>
      <p:sp>
        <p:nvSpPr>
          <p:cNvPr id="3" name="Content Placeholder 2">
            <a:extLst>
              <a:ext uri="{FF2B5EF4-FFF2-40B4-BE49-F238E27FC236}">
                <a16:creationId xmlns:a16="http://schemas.microsoft.com/office/drawing/2014/main" id="{81A42332-6708-80D1-60C0-9058D08F6128}"/>
              </a:ext>
            </a:extLst>
          </p:cNvPr>
          <p:cNvSpPr>
            <a:spLocks noGrp="1"/>
          </p:cNvSpPr>
          <p:nvPr>
            <p:ph type="body" sz="quarter" idx="13"/>
          </p:nvPr>
        </p:nvSpPr>
        <p:spPr/>
        <p:txBody>
          <a:bodyPr vert="horz" lIns="91440" tIns="45720" rIns="0" bIns="45720" rtlCol="0">
            <a:normAutofit/>
          </a:bodyPr>
          <a:lstStyle/>
          <a:p>
            <a:pPr lvl="1"/>
            <a:r>
              <a:rPr lang="en-US" altLang="en-US" sz="1200" dirty="0">
                <a:solidFill>
                  <a:schemeClr val="accent3"/>
                </a:solidFill>
                <a:latin typeface="+mj-lt"/>
              </a:rPr>
              <a:t>Reasons behind it</a:t>
            </a:r>
          </a:p>
        </p:txBody>
      </p:sp>
      <p:pic>
        <p:nvPicPr>
          <p:cNvPr id="6" name="Picture 2" descr="C:\Users\Alminas\Dropbox\academic\teaching\UST\FINA4104\2016\Lecture notes\New Strips\mergers_nyt_jordan_awan.jpg">
            <a:extLst>
              <a:ext uri="{FF2B5EF4-FFF2-40B4-BE49-F238E27FC236}">
                <a16:creationId xmlns:a16="http://schemas.microsoft.com/office/drawing/2014/main" id="{13D4183C-F2EE-10FF-82A5-9966329F50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5935" y="2085109"/>
            <a:ext cx="2330333" cy="288699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A03BE5E-AF16-89D5-E82B-93A784D4521A}"/>
              </a:ext>
            </a:extLst>
          </p:cNvPr>
          <p:cNvSpPr/>
          <p:nvPr/>
        </p:nvSpPr>
        <p:spPr>
          <a:xfrm>
            <a:off x="7325935" y="5009888"/>
            <a:ext cx="2719997" cy="451214"/>
          </a:xfrm>
          <a:prstGeom prst="rect">
            <a:avLst/>
          </a:prstGeom>
        </p:spPr>
        <p:txBody>
          <a:bodyPr wrap="square">
            <a:spAutoFit/>
          </a:bodyPr>
          <a:lstStyle/>
          <a:p>
            <a:pPr>
              <a:lnSpc>
                <a:spcPct val="80000"/>
              </a:lnSpc>
              <a:spcBef>
                <a:spcPct val="50000"/>
              </a:spcBef>
              <a:buClr>
                <a:schemeClr val="hlink"/>
              </a:buClr>
              <a:buSzPct val="60000"/>
            </a:pPr>
            <a:r>
              <a:rPr kumimoji="1" lang="de-DE" altLang="en-US" sz="1100" dirty="0"/>
              <a:t>Source: </a:t>
            </a:r>
            <a:r>
              <a:rPr kumimoji="1" lang="en-US" altLang="en-US" sz="1100" dirty="0"/>
              <a:t>Jordan Awan, New York Times</a:t>
            </a:r>
          </a:p>
          <a:p>
            <a:pPr>
              <a:lnSpc>
                <a:spcPct val="80000"/>
              </a:lnSpc>
              <a:spcBef>
                <a:spcPct val="50000"/>
              </a:spcBef>
              <a:buClr>
                <a:schemeClr val="hlink"/>
              </a:buClr>
              <a:buSzPct val="60000"/>
              <a:buFont typeface="Wingdings" pitchFamily="2" charset="2"/>
              <a:buNone/>
            </a:pPr>
            <a:endParaRPr kumimoji="1" lang="en-GB" altLang="en-US" sz="1100" i="1" dirty="0"/>
          </a:p>
        </p:txBody>
      </p:sp>
    </p:spTree>
    <p:extLst>
      <p:ext uri="{BB962C8B-B14F-4D97-AF65-F5344CB8AC3E}">
        <p14:creationId xmlns:p14="http://schemas.microsoft.com/office/powerpoint/2010/main" val="4885583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A0C14C8-14A6-0C11-2C13-E97139811CC6}"/>
              </a:ext>
            </a:extLst>
          </p:cNvPr>
          <p:cNvSpPr>
            <a:spLocks noGrp="1"/>
          </p:cNvSpPr>
          <p:nvPr>
            <p:ph type="ftr" sz="quarter" idx="11"/>
          </p:nvPr>
        </p:nvSpPr>
        <p:spPr/>
        <p:txBody>
          <a:bodyPr/>
          <a:lstStyle/>
          <a:p>
            <a:r>
              <a:rPr lang="en-US" dirty="0"/>
              <a:t>Mergers, MBOs &amp; Other Corp. Reorgs. // Yannelis</a:t>
            </a:r>
          </a:p>
        </p:txBody>
      </p:sp>
      <p:sp>
        <p:nvSpPr>
          <p:cNvPr id="4" name="Title 3">
            <a:extLst>
              <a:ext uri="{FF2B5EF4-FFF2-40B4-BE49-F238E27FC236}">
                <a16:creationId xmlns:a16="http://schemas.microsoft.com/office/drawing/2014/main" id="{0994EFF7-2F88-992B-CC4B-288F7BCF209B}"/>
              </a:ext>
            </a:extLst>
          </p:cNvPr>
          <p:cNvSpPr>
            <a:spLocks noGrp="1"/>
          </p:cNvSpPr>
          <p:nvPr>
            <p:ph type="title"/>
          </p:nvPr>
        </p:nvSpPr>
        <p:spPr/>
        <p:txBody>
          <a:bodyPr/>
          <a:lstStyle/>
          <a:p>
            <a:r>
              <a:rPr lang="en-US" dirty="0"/>
              <a:t>Taxonomy of mergers</a:t>
            </a:r>
            <a:endParaRPr lang="en-SE" dirty="0"/>
          </a:p>
        </p:txBody>
      </p:sp>
      <p:sp>
        <p:nvSpPr>
          <p:cNvPr id="5" name="Text Placeholder 4">
            <a:extLst>
              <a:ext uri="{FF2B5EF4-FFF2-40B4-BE49-F238E27FC236}">
                <a16:creationId xmlns:a16="http://schemas.microsoft.com/office/drawing/2014/main" id="{BF05C8BC-0DFA-1F7F-F6BA-388DEF65D17B}"/>
              </a:ext>
            </a:extLst>
          </p:cNvPr>
          <p:cNvSpPr>
            <a:spLocks noGrp="1"/>
          </p:cNvSpPr>
          <p:nvPr>
            <p:ph type="body" sz="quarter" idx="13"/>
          </p:nvPr>
        </p:nvSpPr>
        <p:spPr/>
        <p:txBody>
          <a:bodyPr/>
          <a:lstStyle/>
          <a:p>
            <a:endParaRPr lang="en-SE"/>
          </a:p>
        </p:txBody>
      </p:sp>
      <p:sp>
        <p:nvSpPr>
          <p:cNvPr id="7" name="Rectangle 3">
            <a:extLst>
              <a:ext uri="{FF2B5EF4-FFF2-40B4-BE49-F238E27FC236}">
                <a16:creationId xmlns:a16="http://schemas.microsoft.com/office/drawing/2014/main" id="{8A2A8FE6-2C2D-25F5-BC85-95617B04D61C}"/>
              </a:ext>
            </a:extLst>
          </p:cNvPr>
          <p:cNvSpPr txBox="1">
            <a:spLocks noChangeArrowheads="1"/>
          </p:cNvSpPr>
          <p:nvPr/>
        </p:nvSpPr>
        <p:spPr>
          <a:xfrm>
            <a:off x="529017" y="1197487"/>
            <a:ext cx="10819245" cy="5256584"/>
          </a:xfrm>
          <a:prstGeom prst="rect">
            <a:avLst/>
          </a:prstGeom>
          <a:noFill/>
        </p:spPr>
        <p:txBody>
          <a:bodyPr>
            <a:normAutofit/>
          </a:bodyPr>
          <a:lstStyle>
            <a:lvl1pPr marL="457200" indent="-4572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sv-SE" sz="2000" dirty="0" err="1">
                <a:solidFill>
                  <a:schemeClr val="tx2"/>
                </a:solidFill>
              </a:rPr>
              <a:t>Horizontal</a:t>
            </a:r>
            <a:r>
              <a:rPr lang="sv-SE" sz="2000" dirty="0">
                <a:solidFill>
                  <a:schemeClr val="tx2"/>
                </a:solidFill>
              </a:rPr>
              <a:t> vs. </a:t>
            </a:r>
            <a:r>
              <a:rPr lang="sv-SE" sz="2000" dirty="0" err="1">
                <a:solidFill>
                  <a:schemeClr val="tx2"/>
                </a:solidFill>
              </a:rPr>
              <a:t>vertical</a:t>
            </a:r>
            <a:endParaRPr lang="sv-SE" sz="2000" dirty="0">
              <a:solidFill>
                <a:schemeClr val="tx2"/>
              </a:solidFill>
            </a:endParaRPr>
          </a:p>
          <a:p>
            <a:pPr lvl="1"/>
            <a:endParaRPr lang="sv-SE" sz="1800" dirty="0">
              <a:solidFill>
                <a:schemeClr val="tx2"/>
              </a:solidFill>
            </a:endParaRPr>
          </a:p>
          <a:p>
            <a:r>
              <a:rPr lang="sv-SE" sz="2000" dirty="0" err="1">
                <a:solidFill>
                  <a:schemeClr val="tx2"/>
                </a:solidFill>
              </a:rPr>
              <a:t>Related</a:t>
            </a:r>
            <a:r>
              <a:rPr lang="sv-SE" sz="2000" dirty="0">
                <a:solidFill>
                  <a:schemeClr val="tx2"/>
                </a:solidFill>
              </a:rPr>
              <a:t> vs. </a:t>
            </a:r>
            <a:r>
              <a:rPr lang="sv-SE" sz="2000" dirty="0" err="1">
                <a:solidFill>
                  <a:schemeClr val="tx2"/>
                </a:solidFill>
              </a:rPr>
              <a:t>unrelated</a:t>
            </a:r>
            <a:r>
              <a:rPr lang="sv-SE" sz="2000" dirty="0">
                <a:solidFill>
                  <a:schemeClr val="tx2"/>
                </a:solidFill>
              </a:rPr>
              <a:t> (</a:t>
            </a:r>
            <a:r>
              <a:rPr lang="sv-SE" sz="2000" dirty="0" err="1">
                <a:solidFill>
                  <a:schemeClr val="tx2"/>
                </a:solidFill>
              </a:rPr>
              <a:t>diversifying</a:t>
            </a:r>
            <a:r>
              <a:rPr lang="sv-SE" sz="2000" dirty="0">
                <a:solidFill>
                  <a:schemeClr val="tx2"/>
                </a:solidFill>
              </a:rPr>
              <a:t>)</a:t>
            </a:r>
          </a:p>
          <a:p>
            <a:pPr lvl="1"/>
            <a:endParaRPr lang="sv-SE" sz="1800" dirty="0">
              <a:solidFill>
                <a:schemeClr val="tx2"/>
              </a:solidFill>
            </a:endParaRPr>
          </a:p>
          <a:p>
            <a:r>
              <a:rPr lang="sv-SE" sz="2000" dirty="0" err="1">
                <a:solidFill>
                  <a:schemeClr val="tx2"/>
                </a:solidFill>
              </a:rPr>
              <a:t>Hostile</a:t>
            </a:r>
            <a:r>
              <a:rPr lang="sv-SE" sz="2000" dirty="0">
                <a:solidFill>
                  <a:schemeClr val="tx2"/>
                </a:solidFill>
              </a:rPr>
              <a:t> vs. </a:t>
            </a:r>
            <a:r>
              <a:rPr lang="sv-SE" sz="2000" dirty="0" err="1">
                <a:solidFill>
                  <a:schemeClr val="tx2"/>
                </a:solidFill>
              </a:rPr>
              <a:t>friendly</a:t>
            </a:r>
            <a:endParaRPr lang="sv-SE" sz="2000" dirty="0">
              <a:solidFill>
                <a:schemeClr val="tx2"/>
              </a:solidFill>
            </a:endParaRPr>
          </a:p>
          <a:p>
            <a:pPr lvl="1"/>
            <a:endParaRPr lang="sv-SE" sz="1800" dirty="0">
              <a:solidFill>
                <a:schemeClr val="tx2"/>
              </a:solidFill>
            </a:endParaRPr>
          </a:p>
          <a:p>
            <a:r>
              <a:rPr lang="sv-SE" sz="2000" dirty="0">
                <a:solidFill>
                  <a:schemeClr val="tx2"/>
                </a:solidFill>
              </a:rPr>
              <a:t>Cash (</a:t>
            </a:r>
            <a:r>
              <a:rPr lang="sv-SE" sz="2000" dirty="0" err="1">
                <a:solidFill>
                  <a:schemeClr val="tx2"/>
                </a:solidFill>
              </a:rPr>
              <a:t>fixed</a:t>
            </a:r>
            <a:r>
              <a:rPr lang="sv-SE" sz="2000" dirty="0">
                <a:solidFill>
                  <a:schemeClr val="tx2"/>
                </a:solidFill>
              </a:rPr>
              <a:t> $ </a:t>
            </a:r>
            <a:r>
              <a:rPr lang="sv-SE" sz="2000" dirty="0" err="1">
                <a:solidFill>
                  <a:schemeClr val="tx2"/>
                </a:solidFill>
              </a:rPr>
              <a:t>amount</a:t>
            </a:r>
            <a:r>
              <a:rPr lang="sv-SE" sz="2000" dirty="0">
                <a:solidFill>
                  <a:schemeClr val="tx2"/>
                </a:solidFill>
              </a:rPr>
              <a:t> per </a:t>
            </a:r>
            <a:r>
              <a:rPr lang="sv-SE" sz="2000" dirty="0" err="1">
                <a:solidFill>
                  <a:schemeClr val="tx2"/>
                </a:solidFill>
              </a:rPr>
              <a:t>share</a:t>
            </a:r>
            <a:r>
              <a:rPr lang="sv-SE" sz="2000" dirty="0">
                <a:solidFill>
                  <a:schemeClr val="tx2"/>
                </a:solidFill>
              </a:rPr>
              <a:t>) vs. stock (</a:t>
            </a:r>
            <a:r>
              <a:rPr lang="sv-SE" sz="2000" dirty="0" err="1">
                <a:solidFill>
                  <a:schemeClr val="tx2"/>
                </a:solidFill>
              </a:rPr>
              <a:t>fixed</a:t>
            </a:r>
            <a:r>
              <a:rPr lang="sv-SE" sz="2000" dirty="0">
                <a:solidFill>
                  <a:schemeClr val="tx2"/>
                </a:solidFill>
              </a:rPr>
              <a:t> # </a:t>
            </a:r>
            <a:r>
              <a:rPr lang="sv-SE" sz="2000" dirty="0" err="1">
                <a:solidFill>
                  <a:schemeClr val="tx2"/>
                </a:solidFill>
              </a:rPr>
              <a:t>of</a:t>
            </a:r>
            <a:r>
              <a:rPr lang="sv-SE" sz="2000" dirty="0">
                <a:solidFill>
                  <a:schemeClr val="tx2"/>
                </a:solidFill>
              </a:rPr>
              <a:t> </a:t>
            </a:r>
            <a:r>
              <a:rPr lang="sv-SE" sz="2000" dirty="0" err="1">
                <a:solidFill>
                  <a:schemeClr val="tx2"/>
                </a:solidFill>
              </a:rPr>
              <a:t>shares</a:t>
            </a:r>
            <a:r>
              <a:rPr lang="sv-SE" sz="2000" dirty="0">
                <a:solidFill>
                  <a:schemeClr val="tx2"/>
                </a:solidFill>
              </a:rPr>
              <a:t> </a:t>
            </a:r>
            <a:r>
              <a:rPr lang="sv-SE" sz="2000" dirty="0" err="1">
                <a:solidFill>
                  <a:schemeClr val="tx2"/>
                </a:solidFill>
              </a:rPr>
              <a:t>of</a:t>
            </a:r>
            <a:r>
              <a:rPr lang="sv-SE" sz="2000" dirty="0">
                <a:solidFill>
                  <a:schemeClr val="tx2"/>
                </a:solidFill>
              </a:rPr>
              <a:t> </a:t>
            </a:r>
            <a:r>
              <a:rPr lang="sv-SE" sz="2000" dirty="0" err="1">
                <a:solidFill>
                  <a:schemeClr val="tx2"/>
                </a:solidFill>
              </a:rPr>
              <a:t>acquirer</a:t>
            </a:r>
            <a:r>
              <a:rPr lang="sv-SE" sz="2000" dirty="0">
                <a:solidFill>
                  <a:schemeClr val="tx2"/>
                </a:solidFill>
              </a:rPr>
              <a:t>)</a:t>
            </a:r>
          </a:p>
          <a:p>
            <a:pPr lvl="1"/>
            <a:endParaRPr lang="sv-SE" sz="1800" dirty="0">
              <a:solidFill>
                <a:schemeClr val="tx2"/>
              </a:solidFill>
            </a:endParaRPr>
          </a:p>
          <a:p>
            <a:r>
              <a:rPr lang="sv-SE" sz="2000" dirty="0">
                <a:solidFill>
                  <a:schemeClr val="tx2"/>
                </a:solidFill>
              </a:rPr>
              <a:t>Industrial </a:t>
            </a:r>
            <a:r>
              <a:rPr lang="sv-SE" sz="2000" dirty="0" err="1">
                <a:solidFill>
                  <a:schemeClr val="tx2"/>
                </a:solidFill>
              </a:rPr>
              <a:t>buyer</a:t>
            </a:r>
            <a:r>
              <a:rPr lang="sv-SE" sz="2000" dirty="0">
                <a:solidFill>
                  <a:schemeClr val="tx2"/>
                </a:solidFill>
              </a:rPr>
              <a:t> (</a:t>
            </a:r>
            <a:r>
              <a:rPr lang="sv-SE" sz="2000" dirty="0" err="1">
                <a:solidFill>
                  <a:schemeClr val="tx2"/>
                </a:solidFill>
              </a:rPr>
              <a:t>corporate</a:t>
            </a:r>
            <a:r>
              <a:rPr lang="sv-SE" sz="2000" dirty="0">
                <a:solidFill>
                  <a:schemeClr val="tx2"/>
                </a:solidFill>
              </a:rPr>
              <a:t>) vs. </a:t>
            </a:r>
            <a:r>
              <a:rPr lang="sv-SE" sz="2000" dirty="0" err="1">
                <a:solidFill>
                  <a:schemeClr val="tx2"/>
                </a:solidFill>
              </a:rPr>
              <a:t>financial</a:t>
            </a:r>
            <a:r>
              <a:rPr lang="sv-SE" sz="2000" dirty="0">
                <a:solidFill>
                  <a:schemeClr val="tx2"/>
                </a:solidFill>
              </a:rPr>
              <a:t> </a:t>
            </a:r>
            <a:r>
              <a:rPr lang="sv-SE" sz="2000" dirty="0" err="1">
                <a:solidFill>
                  <a:schemeClr val="tx2"/>
                </a:solidFill>
              </a:rPr>
              <a:t>buyer</a:t>
            </a:r>
            <a:r>
              <a:rPr lang="sv-SE" sz="2000" dirty="0">
                <a:solidFill>
                  <a:schemeClr val="tx2"/>
                </a:solidFill>
              </a:rPr>
              <a:t> (PE </a:t>
            </a:r>
            <a:r>
              <a:rPr lang="sv-SE" sz="2000" dirty="0" err="1">
                <a:solidFill>
                  <a:schemeClr val="tx2"/>
                </a:solidFill>
              </a:rPr>
              <a:t>fund</a:t>
            </a:r>
            <a:r>
              <a:rPr lang="sv-SE" sz="2000" dirty="0">
                <a:solidFill>
                  <a:schemeClr val="tx2"/>
                </a:solidFill>
              </a:rPr>
              <a:t>)</a:t>
            </a:r>
          </a:p>
          <a:p>
            <a:pPr lvl="1"/>
            <a:endParaRPr lang="sv-SE" sz="1800" dirty="0">
              <a:solidFill>
                <a:schemeClr val="tx2"/>
              </a:solidFill>
            </a:endParaRPr>
          </a:p>
          <a:p>
            <a:r>
              <a:rPr lang="sv-SE" sz="2000" dirty="0" err="1">
                <a:solidFill>
                  <a:schemeClr val="tx2"/>
                </a:solidFill>
              </a:rPr>
              <a:t>Single-bidder</a:t>
            </a:r>
            <a:r>
              <a:rPr lang="sv-SE" sz="2000" dirty="0">
                <a:solidFill>
                  <a:schemeClr val="tx2"/>
                </a:solidFill>
              </a:rPr>
              <a:t> vs. </a:t>
            </a:r>
            <a:r>
              <a:rPr lang="sv-SE" sz="2000" dirty="0" err="1">
                <a:solidFill>
                  <a:schemeClr val="tx2"/>
                </a:solidFill>
              </a:rPr>
              <a:t>multiple</a:t>
            </a:r>
            <a:r>
              <a:rPr lang="sv-SE" sz="2000" dirty="0">
                <a:solidFill>
                  <a:schemeClr val="tx2"/>
                </a:solidFill>
              </a:rPr>
              <a:t> </a:t>
            </a:r>
            <a:r>
              <a:rPr lang="sv-SE" sz="2000" dirty="0" err="1">
                <a:solidFill>
                  <a:schemeClr val="tx2"/>
                </a:solidFill>
              </a:rPr>
              <a:t>bidders</a:t>
            </a:r>
            <a:endParaRPr lang="sv-SE" sz="2000" dirty="0">
              <a:solidFill>
                <a:schemeClr val="tx2"/>
              </a:solidFill>
            </a:endParaRPr>
          </a:p>
          <a:p>
            <a:pPr lvl="1"/>
            <a:endParaRPr lang="sv-SE" sz="1800" dirty="0">
              <a:solidFill>
                <a:schemeClr val="tx2"/>
              </a:solidFill>
            </a:endParaRPr>
          </a:p>
          <a:p>
            <a:r>
              <a:rPr lang="sv-SE" sz="2000" dirty="0" err="1">
                <a:solidFill>
                  <a:schemeClr val="tx2"/>
                </a:solidFill>
              </a:rPr>
              <a:t>Majority</a:t>
            </a:r>
            <a:r>
              <a:rPr lang="sv-SE" sz="2000" dirty="0">
                <a:solidFill>
                  <a:schemeClr val="tx2"/>
                </a:solidFill>
              </a:rPr>
              <a:t> vs. </a:t>
            </a:r>
            <a:r>
              <a:rPr lang="sv-SE" sz="2000" dirty="0" err="1">
                <a:solidFill>
                  <a:schemeClr val="tx2"/>
                </a:solidFill>
              </a:rPr>
              <a:t>minority</a:t>
            </a:r>
            <a:endParaRPr lang="sv-SE" sz="2000" dirty="0">
              <a:solidFill>
                <a:schemeClr val="tx2"/>
              </a:solidFill>
            </a:endParaRPr>
          </a:p>
          <a:p>
            <a:endParaRPr lang="sv-SE" sz="2000" dirty="0">
              <a:solidFill>
                <a:schemeClr val="tx2"/>
              </a:solidFill>
            </a:endParaRPr>
          </a:p>
        </p:txBody>
      </p:sp>
    </p:spTree>
    <p:extLst>
      <p:ext uri="{BB962C8B-B14F-4D97-AF65-F5344CB8AC3E}">
        <p14:creationId xmlns:p14="http://schemas.microsoft.com/office/powerpoint/2010/main" val="10294544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9010" name="Rectangle 2"/>
          <p:cNvSpPr>
            <a:spLocks noGrp="1" noChangeArrowheads="1"/>
          </p:cNvSpPr>
          <p:nvPr>
            <p:ph type="title"/>
          </p:nvPr>
        </p:nvSpPr>
        <p:spPr>
          <a:xfrm>
            <a:off x="1873143" y="87623"/>
            <a:ext cx="8458144" cy="922114"/>
          </a:xfrm>
        </p:spPr>
        <p:txBody>
          <a:bodyPr>
            <a:normAutofit/>
          </a:bodyPr>
          <a:lstStyle/>
          <a:p>
            <a:pPr>
              <a:defRPr/>
            </a:pPr>
            <a:r>
              <a:rPr lang="en-US" dirty="0"/>
              <a:t>An Overview of Valuation</a:t>
            </a:r>
            <a:br>
              <a:rPr lang="en-US" dirty="0"/>
            </a:br>
            <a:endParaRPr lang="en-US" sz="2200" dirty="0"/>
          </a:p>
        </p:txBody>
      </p:sp>
      <p:pic>
        <p:nvPicPr>
          <p:cNvPr id="10" name="Picture 9"/>
          <p:cNvPicPr/>
          <p:nvPr/>
        </p:nvPicPr>
        <p:blipFill>
          <a:blip r:embed="rId3" cstate="print"/>
          <a:srcRect t="2963"/>
          <a:stretch>
            <a:fillRect/>
          </a:stretch>
        </p:blipFill>
        <p:spPr bwMode="auto">
          <a:xfrm>
            <a:off x="2120894" y="548680"/>
            <a:ext cx="8136904" cy="6165304"/>
          </a:xfrm>
          <a:prstGeom prst="rect">
            <a:avLst/>
          </a:prstGeom>
          <a:noFill/>
          <a:ln w="9525">
            <a:noFill/>
            <a:miter lim="800000"/>
            <a:headEnd/>
            <a:tailEnd/>
          </a:ln>
        </p:spPr>
      </p:pic>
      <p:sp>
        <p:nvSpPr>
          <p:cNvPr id="5" name="TextBox 4"/>
          <p:cNvSpPr txBox="1"/>
          <p:nvPr/>
        </p:nvSpPr>
        <p:spPr>
          <a:xfrm>
            <a:off x="7680176" y="1033272"/>
            <a:ext cx="1872208" cy="338554"/>
          </a:xfrm>
          <a:prstGeom prst="rect">
            <a:avLst/>
          </a:prstGeom>
          <a:solidFill>
            <a:schemeClr val="bg1"/>
          </a:solidFill>
        </p:spPr>
        <p:txBody>
          <a:bodyPr wrap="square" rtlCol="0">
            <a:spAutoFit/>
          </a:bodyPr>
          <a:lstStyle/>
          <a:p>
            <a:pPr algn="ctr"/>
            <a:r>
              <a:rPr lang="en-US" sz="1600" dirty="0"/>
              <a:t>Worst case</a:t>
            </a:r>
            <a:endParaRPr lang="sv-SE" sz="1600" dirty="0"/>
          </a:p>
        </p:txBody>
      </p:sp>
      <p:sp>
        <p:nvSpPr>
          <p:cNvPr id="6" name="TextBox 5"/>
          <p:cNvSpPr txBox="1"/>
          <p:nvPr/>
        </p:nvSpPr>
        <p:spPr>
          <a:xfrm>
            <a:off x="2554919" y="1033272"/>
            <a:ext cx="1872208" cy="338554"/>
          </a:xfrm>
          <a:prstGeom prst="rect">
            <a:avLst/>
          </a:prstGeom>
          <a:solidFill>
            <a:schemeClr val="bg1"/>
          </a:solidFill>
        </p:spPr>
        <p:txBody>
          <a:bodyPr wrap="square" rtlCol="0">
            <a:spAutoFit/>
          </a:bodyPr>
          <a:lstStyle/>
          <a:p>
            <a:pPr algn="ctr"/>
            <a:r>
              <a:rPr lang="en-US" sz="1600" dirty="0"/>
              <a:t>Base case</a:t>
            </a:r>
            <a:endParaRPr lang="sv-SE" sz="1600" dirty="0"/>
          </a:p>
        </p:txBody>
      </p:sp>
      <p:sp>
        <p:nvSpPr>
          <p:cNvPr id="2" name="Rectangle 1">
            <a:extLst>
              <a:ext uri="{FF2B5EF4-FFF2-40B4-BE49-F238E27FC236}">
                <a16:creationId xmlns:a16="http://schemas.microsoft.com/office/drawing/2014/main" id="{741967C2-5455-B996-2D25-BF9149189A91}"/>
              </a:ext>
            </a:extLst>
          </p:cNvPr>
          <p:cNvSpPr/>
          <p:nvPr/>
        </p:nvSpPr>
        <p:spPr bwMode="auto">
          <a:xfrm>
            <a:off x="2222234" y="3988118"/>
            <a:ext cx="1313446" cy="388735"/>
          </a:xfrm>
          <a:prstGeom prst="rect">
            <a:avLst/>
          </a:prstGeom>
          <a:solidFill>
            <a:srgbClr val="FFC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SE" sz="2200" b="0" i="1" u="none" strike="noStrike" cap="none" normalizeH="0" baseline="0">
              <a:ln>
                <a:noFill/>
              </a:ln>
              <a:solidFill>
                <a:schemeClr val="tx1"/>
              </a:solidFill>
              <a:effectLst/>
              <a:latin typeface="Times New Roman" pitchFamily="18" charset="0"/>
            </a:endParaRPr>
          </a:p>
        </p:txBody>
      </p:sp>
      <p:sp>
        <p:nvSpPr>
          <p:cNvPr id="3" name="TextBox 2">
            <a:extLst>
              <a:ext uri="{FF2B5EF4-FFF2-40B4-BE49-F238E27FC236}">
                <a16:creationId xmlns:a16="http://schemas.microsoft.com/office/drawing/2014/main" id="{15C516E7-D7DB-2599-D80A-E3DC4D849BF9}"/>
              </a:ext>
            </a:extLst>
          </p:cNvPr>
          <p:cNvSpPr txBox="1"/>
          <p:nvPr/>
        </p:nvSpPr>
        <p:spPr>
          <a:xfrm>
            <a:off x="2299088" y="4036766"/>
            <a:ext cx="1236592" cy="307777"/>
          </a:xfrm>
          <a:prstGeom prst="rect">
            <a:avLst/>
          </a:prstGeom>
          <a:noFill/>
        </p:spPr>
        <p:txBody>
          <a:bodyPr wrap="square" rtlCol="0">
            <a:spAutoFit/>
          </a:bodyPr>
          <a:lstStyle/>
          <a:p>
            <a:r>
              <a:rPr lang="en-SE" sz="1400" dirty="0">
                <a:latin typeface="Times New Roman" panose="02020603050405020304" pitchFamily="18" charset="0"/>
                <a:cs typeface="Times New Roman" panose="02020603050405020304" pitchFamily="18" charset="0"/>
              </a:rPr>
              <a:t>WACC / APV</a:t>
            </a:r>
          </a:p>
        </p:txBody>
      </p:sp>
    </p:spTree>
    <p:extLst>
      <p:ext uri="{BB962C8B-B14F-4D97-AF65-F5344CB8AC3E}">
        <p14:creationId xmlns:p14="http://schemas.microsoft.com/office/powerpoint/2010/main" val="50989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E9236-2D1F-6C15-FEE5-D16A448ECC84}"/>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2153F0-0442-A047-98AA-8DA680CD0C20}"/>
              </a:ext>
            </a:extLst>
          </p:cNvPr>
          <p:cNvSpPr>
            <a:spLocks noGrp="1"/>
          </p:cNvSpPr>
          <p:nvPr>
            <p:ph type="ftr" sz="quarter" idx="11"/>
          </p:nvPr>
        </p:nvSpPr>
        <p:spPr>
          <a:xfrm>
            <a:off x="4038600" y="6492875"/>
            <a:ext cx="4114800" cy="365125"/>
          </a:xfrm>
        </p:spPr>
        <p:txBody>
          <a:bodyPr/>
          <a:lstStyle/>
          <a:p>
            <a:r>
              <a:rPr lang="en-US" dirty="0"/>
              <a:t>Mergers, MBOs &amp; Other Corp. Reorgs. // Yannelis</a:t>
            </a:r>
          </a:p>
        </p:txBody>
      </p:sp>
      <p:sp>
        <p:nvSpPr>
          <p:cNvPr id="4" name="Title 3">
            <a:extLst>
              <a:ext uri="{FF2B5EF4-FFF2-40B4-BE49-F238E27FC236}">
                <a16:creationId xmlns:a16="http://schemas.microsoft.com/office/drawing/2014/main" id="{EA40FFDC-0ED1-97E3-69BA-C2755BCFF838}"/>
              </a:ext>
            </a:extLst>
          </p:cNvPr>
          <p:cNvSpPr>
            <a:spLocks noGrp="1"/>
          </p:cNvSpPr>
          <p:nvPr>
            <p:ph type="title"/>
          </p:nvPr>
        </p:nvSpPr>
        <p:spPr/>
        <p:txBody>
          <a:bodyPr/>
          <a:lstStyle/>
          <a:p>
            <a:r>
              <a:rPr lang="en-US" dirty="0"/>
              <a:t>Control</a:t>
            </a:r>
            <a:endParaRPr lang="en-SE" dirty="0"/>
          </a:p>
        </p:txBody>
      </p:sp>
      <p:sp>
        <p:nvSpPr>
          <p:cNvPr id="5" name="Text Placeholder 4">
            <a:extLst>
              <a:ext uri="{FF2B5EF4-FFF2-40B4-BE49-F238E27FC236}">
                <a16:creationId xmlns:a16="http://schemas.microsoft.com/office/drawing/2014/main" id="{04A4D2EB-AA89-877B-D73B-72046104519A}"/>
              </a:ext>
            </a:extLst>
          </p:cNvPr>
          <p:cNvSpPr>
            <a:spLocks noGrp="1"/>
          </p:cNvSpPr>
          <p:nvPr>
            <p:ph type="body" sz="quarter" idx="13"/>
          </p:nvPr>
        </p:nvSpPr>
        <p:spPr/>
        <p:txBody>
          <a:bodyPr/>
          <a:lstStyle/>
          <a:p>
            <a:endParaRPr lang="en-SE"/>
          </a:p>
        </p:txBody>
      </p:sp>
      <p:sp>
        <p:nvSpPr>
          <p:cNvPr id="6" name="Rectangle 3">
            <a:extLst>
              <a:ext uri="{FF2B5EF4-FFF2-40B4-BE49-F238E27FC236}">
                <a16:creationId xmlns:a16="http://schemas.microsoft.com/office/drawing/2014/main" id="{C7D84B9F-A6E4-E6C2-454A-222FE49ABF5B}"/>
              </a:ext>
            </a:extLst>
          </p:cNvPr>
          <p:cNvSpPr txBox="1">
            <a:spLocks noChangeArrowheads="1"/>
          </p:cNvSpPr>
          <p:nvPr/>
        </p:nvSpPr>
        <p:spPr>
          <a:xfrm>
            <a:off x="639461" y="1145179"/>
            <a:ext cx="10592687" cy="5491455"/>
          </a:xfrm>
          <a:prstGeom prst="rect">
            <a:avLst/>
          </a:prstGeom>
        </p:spPr>
        <p:txBody>
          <a:bodyPr>
            <a:normAutofit/>
          </a:bodyPr>
          <a:lstStyle>
            <a:lvl1pPr marL="457200" indent="-4572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solidFill>
                <a:schemeClr val="tx2"/>
              </a:solidFill>
            </a:endParaRPr>
          </a:p>
          <a:p>
            <a:r>
              <a:rPr lang="en-US" dirty="0">
                <a:solidFill>
                  <a:schemeClr val="tx2"/>
                </a:solidFill>
              </a:rPr>
              <a:t>What is the “Value of Control”?</a:t>
            </a:r>
          </a:p>
          <a:p>
            <a:r>
              <a:rPr lang="en-US" dirty="0">
                <a:solidFill>
                  <a:schemeClr val="tx2"/>
                </a:solidFill>
              </a:rPr>
              <a:t>Estimates of the value of control</a:t>
            </a:r>
          </a:p>
          <a:p>
            <a:r>
              <a:rPr lang="en-US" dirty="0">
                <a:solidFill>
                  <a:schemeClr val="tx2"/>
                </a:solidFill>
              </a:rPr>
              <a:t>What determines the value of control?</a:t>
            </a:r>
          </a:p>
          <a:p>
            <a:pPr lvl="1"/>
            <a:endParaRPr lang="en-US" dirty="0">
              <a:solidFill>
                <a:schemeClr val="tx2"/>
              </a:solidFill>
            </a:endParaRPr>
          </a:p>
          <a:p>
            <a:r>
              <a:rPr lang="en-US" dirty="0">
                <a:solidFill>
                  <a:schemeClr val="tx2"/>
                </a:solidFill>
              </a:rPr>
              <a:t>Calculating merger value creation from stock market data</a:t>
            </a:r>
          </a:p>
          <a:p>
            <a:r>
              <a:rPr lang="en-US" dirty="0">
                <a:solidFill>
                  <a:schemeClr val="tx2"/>
                </a:solidFill>
              </a:rPr>
              <a:t>Merger arbitrage</a:t>
            </a:r>
          </a:p>
          <a:p>
            <a:endParaRPr lang="en-US" dirty="0">
              <a:solidFill>
                <a:schemeClr val="tx2"/>
              </a:solidFill>
            </a:endParaRPr>
          </a:p>
          <a:p>
            <a:pPr lvl="1"/>
            <a:endParaRPr lang="en-US" sz="2200" dirty="0">
              <a:solidFill>
                <a:schemeClr val="tx2"/>
              </a:solidFill>
            </a:endParaRPr>
          </a:p>
        </p:txBody>
      </p:sp>
    </p:spTree>
    <p:extLst>
      <p:ext uri="{BB962C8B-B14F-4D97-AF65-F5344CB8AC3E}">
        <p14:creationId xmlns:p14="http://schemas.microsoft.com/office/powerpoint/2010/main" val="2994738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D9812-18FD-6210-E4DF-B90DD0E797C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B4CC00B-9007-834B-4AA2-E538D3927B62}"/>
              </a:ext>
            </a:extLst>
          </p:cNvPr>
          <p:cNvSpPr>
            <a:spLocks noGrp="1"/>
          </p:cNvSpPr>
          <p:nvPr>
            <p:ph type="ftr" sz="quarter" idx="11"/>
          </p:nvPr>
        </p:nvSpPr>
        <p:spPr>
          <a:xfrm>
            <a:off x="4038600" y="6492875"/>
            <a:ext cx="4114800" cy="365125"/>
          </a:xfrm>
        </p:spPr>
        <p:txBody>
          <a:bodyPr/>
          <a:lstStyle/>
          <a:p>
            <a:r>
              <a:rPr lang="en-US" sz="1200" dirty="0">
                <a:solidFill>
                  <a:schemeClr val="bg1">
                    <a:lumMod val="65000"/>
                  </a:schemeClr>
                </a:solidFill>
                <a:latin typeface="Arial" panose="020B0604020202020204" pitchFamily="34" charset="0"/>
                <a:cs typeface="Arial" panose="020B0604020202020204" pitchFamily="34" charset="0"/>
              </a:rPr>
              <a:t>Mergers, MBOs &amp; Other Corp. Reorgs. // Yannelis</a:t>
            </a:r>
          </a:p>
        </p:txBody>
      </p:sp>
      <p:sp>
        <p:nvSpPr>
          <p:cNvPr id="4" name="Title 3">
            <a:extLst>
              <a:ext uri="{FF2B5EF4-FFF2-40B4-BE49-F238E27FC236}">
                <a16:creationId xmlns:a16="http://schemas.microsoft.com/office/drawing/2014/main" id="{F052D11B-92F5-27C9-6A61-45A4779FCBC8}"/>
              </a:ext>
            </a:extLst>
          </p:cNvPr>
          <p:cNvSpPr>
            <a:spLocks noGrp="1"/>
          </p:cNvSpPr>
          <p:nvPr>
            <p:ph type="title"/>
          </p:nvPr>
        </p:nvSpPr>
        <p:spPr/>
        <p:txBody>
          <a:bodyPr/>
          <a:lstStyle/>
          <a:p>
            <a:r>
              <a:rPr lang="en-US" dirty="0">
                <a:latin typeface="Arial" panose="020B0604020202020204" pitchFamily="34" charset="0"/>
              </a:rPr>
              <a:t>Session 3</a:t>
            </a:r>
            <a:endParaRPr lang="en-SE" dirty="0">
              <a:latin typeface="Arial" panose="020B0604020202020204" pitchFamily="34" charset="0"/>
            </a:endParaRPr>
          </a:p>
        </p:txBody>
      </p:sp>
      <p:sp>
        <p:nvSpPr>
          <p:cNvPr id="5" name="Text Placeholder 4">
            <a:extLst>
              <a:ext uri="{FF2B5EF4-FFF2-40B4-BE49-F238E27FC236}">
                <a16:creationId xmlns:a16="http://schemas.microsoft.com/office/drawing/2014/main" id="{34CEAAE5-887E-6EB0-B527-0B0BEED234A7}"/>
              </a:ext>
            </a:extLst>
          </p:cNvPr>
          <p:cNvSpPr>
            <a:spLocks noGrp="1"/>
          </p:cNvSpPr>
          <p:nvPr>
            <p:ph type="body" sz="quarter" idx="13"/>
          </p:nvPr>
        </p:nvSpPr>
        <p:spPr/>
        <p:txBody>
          <a:bodyPr/>
          <a:lstStyle/>
          <a:p>
            <a:endParaRPr lang="en-SE"/>
          </a:p>
        </p:txBody>
      </p:sp>
      <p:sp>
        <p:nvSpPr>
          <p:cNvPr id="6" name="Rectangle 3">
            <a:extLst>
              <a:ext uri="{FF2B5EF4-FFF2-40B4-BE49-F238E27FC236}">
                <a16:creationId xmlns:a16="http://schemas.microsoft.com/office/drawing/2014/main" id="{A15EB457-E8E8-0CDE-D19F-2F3562880F4C}"/>
              </a:ext>
            </a:extLst>
          </p:cNvPr>
          <p:cNvSpPr txBox="1">
            <a:spLocks noChangeArrowheads="1"/>
          </p:cNvSpPr>
          <p:nvPr/>
        </p:nvSpPr>
        <p:spPr>
          <a:xfrm>
            <a:off x="625814" y="1020051"/>
            <a:ext cx="10592646" cy="5049677"/>
          </a:xfrm>
          <a:prstGeom prst="rect">
            <a:avLst/>
          </a:prstGeom>
        </p:spPr>
        <p:txBody>
          <a:bodyPr>
            <a:normAutofit/>
          </a:bodyPr>
          <a:lstStyle>
            <a:lvl1pPr marL="457200" indent="-4572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solidFill>
                <a:schemeClr val="tx2"/>
              </a:solidFill>
            </a:endParaRPr>
          </a:p>
          <a:p>
            <a:r>
              <a:rPr lang="en-US" dirty="0">
                <a:solidFill>
                  <a:schemeClr val="tx2"/>
                </a:solidFill>
              </a:rPr>
              <a:t>Method of payment</a:t>
            </a:r>
          </a:p>
          <a:p>
            <a:pPr lvl="2"/>
            <a:endParaRPr lang="en-US" dirty="0">
              <a:solidFill>
                <a:schemeClr val="tx2"/>
              </a:solidFill>
            </a:endParaRPr>
          </a:p>
          <a:p>
            <a:r>
              <a:rPr lang="en-US" dirty="0">
                <a:solidFill>
                  <a:schemeClr val="tx2"/>
                </a:solidFill>
              </a:rPr>
              <a:t>How to set the Exchange Ratio in a merger</a:t>
            </a:r>
          </a:p>
          <a:p>
            <a:pPr lvl="2"/>
            <a:endParaRPr lang="en-US" dirty="0">
              <a:solidFill>
                <a:schemeClr val="tx2"/>
              </a:solidFill>
            </a:endParaRPr>
          </a:p>
          <a:p>
            <a:r>
              <a:rPr lang="en-US" dirty="0">
                <a:solidFill>
                  <a:schemeClr val="tx2"/>
                </a:solidFill>
              </a:rPr>
              <a:t>Advanced financing provisions: Collars, CVRs, and Earnouts</a:t>
            </a:r>
          </a:p>
          <a:p>
            <a:pPr lvl="2"/>
            <a:endParaRPr lang="en-US" dirty="0">
              <a:solidFill>
                <a:schemeClr val="tx2"/>
              </a:solidFill>
            </a:endParaRPr>
          </a:p>
          <a:p>
            <a:r>
              <a:rPr lang="en-US" dirty="0">
                <a:solidFill>
                  <a:schemeClr val="tx2"/>
                </a:solidFill>
              </a:rPr>
              <a:t>How to sell a company</a:t>
            </a:r>
          </a:p>
          <a:p>
            <a:r>
              <a:rPr lang="en-US" dirty="0">
                <a:solidFill>
                  <a:schemeClr val="tx2"/>
                </a:solidFill>
              </a:rPr>
              <a:t>How to buy a company</a:t>
            </a:r>
          </a:p>
          <a:p>
            <a:pPr lvl="2"/>
            <a:endParaRPr lang="en-US" dirty="0">
              <a:solidFill>
                <a:schemeClr val="tx2"/>
              </a:solidFill>
            </a:endParaRPr>
          </a:p>
          <a:p>
            <a:r>
              <a:rPr lang="en-US" dirty="0">
                <a:solidFill>
                  <a:schemeClr val="tx2"/>
                </a:solidFill>
              </a:rPr>
              <a:t>Bid tactics and bid rules</a:t>
            </a:r>
          </a:p>
          <a:p>
            <a:r>
              <a:rPr lang="en-US" dirty="0">
                <a:solidFill>
                  <a:schemeClr val="tx2"/>
                </a:solidFill>
              </a:rPr>
              <a:t>Clauses protecting acquirers</a:t>
            </a:r>
          </a:p>
          <a:p>
            <a:pPr lvl="1"/>
            <a:endParaRPr lang="en-US" sz="2200" dirty="0">
              <a:solidFill>
                <a:schemeClr val="tx2"/>
              </a:solidFill>
            </a:endParaRPr>
          </a:p>
        </p:txBody>
      </p:sp>
    </p:spTree>
    <p:extLst>
      <p:ext uri="{BB962C8B-B14F-4D97-AF65-F5344CB8AC3E}">
        <p14:creationId xmlns:p14="http://schemas.microsoft.com/office/powerpoint/2010/main" val="4120054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CCFA-64D4-2ED2-40B9-EC0CF45D3DAB}"/>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7F480C2-E8B2-8AB6-83AA-E768A6D24C54}"/>
              </a:ext>
            </a:extLst>
          </p:cNvPr>
          <p:cNvSpPr>
            <a:spLocks noGrp="1"/>
          </p:cNvSpPr>
          <p:nvPr>
            <p:ph type="ftr" sz="quarter" idx="11"/>
          </p:nvPr>
        </p:nvSpPr>
        <p:spPr>
          <a:xfrm>
            <a:off x="4038600" y="6492875"/>
            <a:ext cx="4114800" cy="365125"/>
          </a:xfrm>
        </p:spPr>
        <p:txBody>
          <a:bodyPr/>
          <a:lstStyle/>
          <a:p>
            <a:r>
              <a:rPr lang="en-US" sz="1200" dirty="0">
                <a:solidFill>
                  <a:schemeClr val="bg1">
                    <a:lumMod val="65000"/>
                  </a:schemeClr>
                </a:solidFill>
                <a:latin typeface="Arial" panose="020B0604020202020204" pitchFamily="34" charset="0"/>
                <a:cs typeface="Arial" panose="020B0604020202020204" pitchFamily="34" charset="0"/>
              </a:rPr>
              <a:t>Mergers, MBOs &amp; Other Corp. Reorgs. // Yannelis</a:t>
            </a:r>
          </a:p>
        </p:txBody>
      </p:sp>
      <p:sp>
        <p:nvSpPr>
          <p:cNvPr id="4" name="Title 3">
            <a:extLst>
              <a:ext uri="{FF2B5EF4-FFF2-40B4-BE49-F238E27FC236}">
                <a16:creationId xmlns:a16="http://schemas.microsoft.com/office/drawing/2014/main" id="{C74C4633-46CB-359E-8F23-2F77B39FDBAC}"/>
              </a:ext>
            </a:extLst>
          </p:cNvPr>
          <p:cNvSpPr>
            <a:spLocks noGrp="1"/>
          </p:cNvSpPr>
          <p:nvPr>
            <p:ph type="title"/>
          </p:nvPr>
        </p:nvSpPr>
        <p:spPr/>
        <p:txBody>
          <a:bodyPr/>
          <a:lstStyle/>
          <a:p>
            <a:r>
              <a:rPr lang="en-US" dirty="0">
                <a:latin typeface="Arial" panose="020B0604020202020204" pitchFamily="34" charset="0"/>
              </a:rPr>
              <a:t>Session 5</a:t>
            </a:r>
            <a:endParaRPr lang="en-SE" dirty="0">
              <a:latin typeface="Arial" panose="020B0604020202020204" pitchFamily="34" charset="0"/>
            </a:endParaRPr>
          </a:p>
        </p:txBody>
      </p:sp>
      <p:sp>
        <p:nvSpPr>
          <p:cNvPr id="5" name="Text Placeholder 4">
            <a:extLst>
              <a:ext uri="{FF2B5EF4-FFF2-40B4-BE49-F238E27FC236}">
                <a16:creationId xmlns:a16="http://schemas.microsoft.com/office/drawing/2014/main" id="{6157699E-4DF4-016C-DD0D-04982FA5D922}"/>
              </a:ext>
            </a:extLst>
          </p:cNvPr>
          <p:cNvSpPr>
            <a:spLocks noGrp="1"/>
          </p:cNvSpPr>
          <p:nvPr>
            <p:ph type="body" sz="quarter" idx="13"/>
          </p:nvPr>
        </p:nvSpPr>
        <p:spPr/>
        <p:txBody>
          <a:bodyPr/>
          <a:lstStyle/>
          <a:p>
            <a:endParaRPr lang="en-SE"/>
          </a:p>
        </p:txBody>
      </p:sp>
      <p:sp>
        <p:nvSpPr>
          <p:cNvPr id="6" name="Rectangle 3">
            <a:extLst>
              <a:ext uri="{FF2B5EF4-FFF2-40B4-BE49-F238E27FC236}">
                <a16:creationId xmlns:a16="http://schemas.microsoft.com/office/drawing/2014/main" id="{05A04BB7-55F9-8437-468C-049DB7AE5A39}"/>
              </a:ext>
            </a:extLst>
          </p:cNvPr>
          <p:cNvSpPr txBox="1">
            <a:spLocks noChangeArrowheads="1"/>
          </p:cNvSpPr>
          <p:nvPr/>
        </p:nvSpPr>
        <p:spPr>
          <a:xfrm>
            <a:off x="625814" y="1020051"/>
            <a:ext cx="10592646" cy="5049677"/>
          </a:xfrm>
          <a:prstGeom prst="rect">
            <a:avLst/>
          </a:prstGeom>
        </p:spPr>
        <p:txBody>
          <a:bodyPr>
            <a:normAutofit/>
          </a:bodyPr>
          <a:lstStyle>
            <a:lvl1pPr marL="457200" indent="-4572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Bidding tactics</a:t>
            </a:r>
          </a:p>
          <a:p>
            <a:r>
              <a:rPr lang="en-US" dirty="0">
                <a:solidFill>
                  <a:schemeClr val="tx2"/>
                </a:solidFill>
                <a:latin typeface="Arial" panose="020B0604020202020204" pitchFamily="34" charset="0"/>
                <a:cs typeface="Arial" panose="020B0604020202020204" pitchFamily="34" charset="0"/>
              </a:rPr>
              <a:t>Hostile takeovers</a:t>
            </a:r>
          </a:p>
          <a:p>
            <a:pPr lvl="1"/>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Regulatory aspects</a:t>
            </a:r>
          </a:p>
          <a:p>
            <a:pPr lvl="1"/>
            <a:r>
              <a:rPr lang="en-US" sz="2200" dirty="0">
                <a:solidFill>
                  <a:schemeClr val="tx2"/>
                </a:solidFill>
                <a:latin typeface="Arial" panose="020B0604020202020204" pitchFamily="34" charset="0"/>
                <a:cs typeface="Arial" panose="020B0604020202020204" pitchFamily="34" charset="0"/>
              </a:rPr>
              <a:t>Securities law</a:t>
            </a:r>
          </a:p>
          <a:p>
            <a:pPr lvl="1"/>
            <a:r>
              <a:rPr lang="en-US" sz="2200" dirty="0">
                <a:solidFill>
                  <a:schemeClr val="tx2"/>
                </a:solidFill>
                <a:latin typeface="Arial" panose="020B0604020202020204" pitchFamily="34" charset="0"/>
                <a:cs typeface="Arial" panose="020B0604020202020204" pitchFamily="34" charset="0"/>
              </a:rPr>
              <a:t>Antitrust law</a:t>
            </a:r>
          </a:p>
          <a:p>
            <a:pPr lvl="1"/>
            <a:r>
              <a:rPr lang="en-US" sz="2200" dirty="0">
                <a:solidFill>
                  <a:schemeClr val="tx2"/>
                </a:solidFill>
                <a:latin typeface="Arial" panose="020B0604020202020204" pitchFamily="34" charset="0"/>
                <a:cs typeface="Arial" panose="020B0604020202020204" pitchFamily="34" charset="0"/>
              </a:rPr>
              <a:t>Foreign investment laws</a:t>
            </a:r>
          </a:p>
          <a:p>
            <a:pPr lvl="1"/>
            <a:endParaRPr lang="en-US" dirty="0">
              <a:solidFill>
                <a:schemeClr val="tx2"/>
              </a:solidFill>
              <a:latin typeface="Arial" panose="020B0604020202020204" pitchFamily="34" charset="0"/>
              <a:cs typeface="Arial" panose="020B0604020202020204" pitchFamily="34" charset="0"/>
            </a:endParaRPr>
          </a:p>
          <a:p>
            <a:pPr lvl="1"/>
            <a:endParaRPr lang="en-US" dirty="0">
              <a:solidFill>
                <a:schemeClr val="tx2"/>
              </a:solidFill>
              <a:latin typeface="Arial" panose="020B0604020202020204" pitchFamily="34" charset="0"/>
              <a:cs typeface="Arial" panose="020B0604020202020204" pitchFamily="34" charset="0"/>
            </a:endParaRPr>
          </a:p>
          <a:p>
            <a:pPr lvl="1"/>
            <a:endParaRPr lang="en-US" sz="2200"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41466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C49F7-7F60-C963-989A-0BAF8103F4C8}"/>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E93CD75C-4CFC-F01D-1E60-10569B075AE1}"/>
              </a:ext>
            </a:extLst>
          </p:cNvPr>
          <p:cNvSpPr>
            <a:spLocks noGrp="1"/>
          </p:cNvSpPr>
          <p:nvPr>
            <p:ph type="ftr" sz="quarter" idx="11"/>
          </p:nvPr>
        </p:nvSpPr>
        <p:spPr>
          <a:xfrm>
            <a:off x="4038600" y="6492875"/>
            <a:ext cx="4114800" cy="365125"/>
          </a:xfrm>
        </p:spPr>
        <p:txBody>
          <a:bodyPr/>
          <a:lstStyle/>
          <a:p>
            <a:r>
              <a:rPr lang="en-US" sz="1200" dirty="0">
                <a:solidFill>
                  <a:schemeClr val="bg1">
                    <a:lumMod val="65000"/>
                  </a:schemeClr>
                </a:solidFill>
                <a:latin typeface="Arial" panose="020B0604020202020204" pitchFamily="34" charset="0"/>
                <a:cs typeface="Arial" panose="020B0604020202020204" pitchFamily="34" charset="0"/>
              </a:rPr>
              <a:t>Mergers, MBOs &amp; Other Corp. Reorgs. // Yannelis</a:t>
            </a:r>
          </a:p>
        </p:txBody>
      </p:sp>
      <p:sp>
        <p:nvSpPr>
          <p:cNvPr id="4" name="Title 3">
            <a:extLst>
              <a:ext uri="{FF2B5EF4-FFF2-40B4-BE49-F238E27FC236}">
                <a16:creationId xmlns:a16="http://schemas.microsoft.com/office/drawing/2014/main" id="{03429345-784D-BF51-4429-2D715A738F8E}"/>
              </a:ext>
            </a:extLst>
          </p:cNvPr>
          <p:cNvSpPr>
            <a:spLocks noGrp="1"/>
          </p:cNvSpPr>
          <p:nvPr>
            <p:ph type="title"/>
          </p:nvPr>
        </p:nvSpPr>
        <p:spPr/>
        <p:txBody>
          <a:bodyPr/>
          <a:lstStyle/>
          <a:p>
            <a:r>
              <a:rPr lang="en-US" dirty="0">
                <a:latin typeface="Arial" panose="020B0604020202020204" pitchFamily="34" charset="0"/>
              </a:rPr>
              <a:t>Session 6</a:t>
            </a:r>
            <a:endParaRPr lang="en-SE" dirty="0">
              <a:latin typeface="Arial" panose="020B0604020202020204" pitchFamily="34" charset="0"/>
            </a:endParaRPr>
          </a:p>
        </p:txBody>
      </p:sp>
      <p:sp>
        <p:nvSpPr>
          <p:cNvPr id="5" name="Text Placeholder 4">
            <a:extLst>
              <a:ext uri="{FF2B5EF4-FFF2-40B4-BE49-F238E27FC236}">
                <a16:creationId xmlns:a16="http://schemas.microsoft.com/office/drawing/2014/main" id="{99675073-68C4-5DA4-ECAA-29C08DAE35A8}"/>
              </a:ext>
            </a:extLst>
          </p:cNvPr>
          <p:cNvSpPr>
            <a:spLocks noGrp="1"/>
          </p:cNvSpPr>
          <p:nvPr>
            <p:ph type="body" sz="quarter" idx="13"/>
          </p:nvPr>
        </p:nvSpPr>
        <p:spPr/>
        <p:txBody>
          <a:bodyPr/>
          <a:lstStyle/>
          <a:p>
            <a:endParaRPr lang="en-SE"/>
          </a:p>
        </p:txBody>
      </p:sp>
      <p:sp>
        <p:nvSpPr>
          <p:cNvPr id="6" name="Rectangle 3">
            <a:extLst>
              <a:ext uri="{FF2B5EF4-FFF2-40B4-BE49-F238E27FC236}">
                <a16:creationId xmlns:a16="http://schemas.microsoft.com/office/drawing/2014/main" id="{F2879486-3645-B5F5-2A9C-E2D37A73EF96}"/>
              </a:ext>
            </a:extLst>
          </p:cNvPr>
          <p:cNvSpPr txBox="1">
            <a:spLocks noChangeArrowheads="1"/>
          </p:cNvSpPr>
          <p:nvPr/>
        </p:nvSpPr>
        <p:spPr>
          <a:xfrm>
            <a:off x="625814" y="1020051"/>
            <a:ext cx="10592646" cy="5049677"/>
          </a:xfrm>
          <a:prstGeom prst="rect">
            <a:avLst/>
          </a:prstGeom>
        </p:spPr>
        <p:txBody>
          <a:bodyPr>
            <a:normAutofit/>
          </a:bodyPr>
          <a:lstStyle>
            <a:lvl1pPr marL="457200" indent="-457200" algn="l" defTabSz="914400" rtl="0" eaLnBrk="1" latinLnBrk="0" hangingPunct="1">
              <a:lnSpc>
                <a:spcPct val="90000"/>
              </a:lnSpc>
              <a:spcBef>
                <a:spcPts val="1000"/>
              </a:spcBef>
              <a:buFont typeface="Arial" panose="020B0604020202020204" pitchFamily="34" charset="0"/>
              <a:buChar char="•"/>
              <a:defRPr sz="2400" b="0" i="0" kern="1200">
                <a:solidFill>
                  <a:schemeClr val="tx1"/>
                </a:solidFill>
                <a:latin typeface="+mn-lt"/>
                <a:ea typeface="+mn-ea"/>
                <a:cs typeface="+mn-cs"/>
              </a:defRPr>
            </a:lvl1pPr>
            <a:lvl2pPr marL="800100" indent="-3429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mn-lt"/>
                <a:ea typeface="+mn-ea"/>
                <a:cs typeface="+mn-cs"/>
              </a:defRPr>
            </a:lvl2pPr>
            <a:lvl3pPr marL="1257300" indent="-3429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600" b="0" i="0" kern="1200">
                <a:solidFill>
                  <a:schemeClr val="tx1"/>
                </a:solidFill>
                <a:latin typeface="+mn-lt"/>
                <a:ea typeface="+mn-ea"/>
                <a:cs typeface="+mn-cs"/>
              </a:defRPr>
            </a:lvl4pPr>
            <a:lvl5pPr marL="2114550" indent="-285750" algn="l" defTabSz="914400" rtl="0" eaLnBrk="1" latinLnBrk="0" hangingPunct="1">
              <a:lnSpc>
                <a:spcPct val="90000"/>
              </a:lnSpc>
              <a:spcBef>
                <a:spcPts val="500"/>
              </a:spcBef>
              <a:buFont typeface="Arial" panose="020B0604020202020204" pitchFamily="34" charset="0"/>
              <a:buChar char="•"/>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Courier New" panose="02070309020205020404" pitchFamily="49" charset="0"/>
              <a:buChar char="o"/>
              <a:defRPr sz="12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Financial distress</a:t>
            </a:r>
          </a:p>
          <a:p>
            <a:r>
              <a:rPr lang="en-US" dirty="0">
                <a:solidFill>
                  <a:schemeClr val="tx2"/>
                </a:solidFill>
                <a:latin typeface="Arial" panose="020B0604020202020204" pitchFamily="34" charset="0"/>
                <a:cs typeface="Arial" panose="020B0604020202020204" pitchFamily="34" charset="0"/>
              </a:rPr>
              <a:t>Costs of financial distress</a:t>
            </a:r>
          </a:p>
          <a:p>
            <a:pPr lvl="1"/>
            <a:r>
              <a:rPr lang="en-US" sz="2200" dirty="0">
                <a:solidFill>
                  <a:schemeClr val="tx2"/>
                </a:solidFill>
                <a:latin typeface="Arial" panose="020B0604020202020204" pitchFamily="34" charset="0"/>
                <a:cs typeface="Arial" panose="020B0604020202020204" pitchFamily="34" charset="0"/>
              </a:rPr>
              <a:t>Direct</a:t>
            </a:r>
          </a:p>
          <a:p>
            <a:pPr lvl="1"/>
            <a:r>
              <a:rPr lang="en-US" sz="2200" dirty="0">
                <a:solidFill>
                  <a:schemeClr val="tx2"/>
                </a:solidFill>
                <a:latin typeface="Arial" panose="020B0604020202020204" pitchFamily="34" charset="0"/>
                <a:cs typeface="Arial" panose="020B0604020202020204" pitchFamily="34" charset="0"/>
              </a:rPr>
              <a:t>Indirect</a:t>
            </a:r>
          </a:p>
          <a:p>
            <a:pPr marL="0" indent="0">
              <a:buNone/>
            </a:pPr>
            <a:endParaRPr lang="en-US" dirty="0">
              <a:solidFill>
                <a:schemeClr val="tx2"/>
              </a:solidFill>
              <a:latin typeface="Arial" panose="020B0604020202020204" pitchFamily="34" charset="0"/>
              <a:cs typeface="Arial" panose="020B0604020202020204" pitchFamily="34" charset="0"/>
            </a:endParaRPr>
          </a:p>
          <a:p>
            <a:r>
              <a:rPr lang="en-US" dirty="0">
                <a:solidFill>
                  <a:schemeClr val="tx2"/>
                </a:solidFill>
                <a:latin typeface="Arial" panose="020B0604020202020204" pitchFamily="34" charset="0"/>
                <a:cs typeface="Arial" panose="020B0604020202020204" pitchFamily="34" charset="0"/>
              </a:rPr>
              <a:t>Resolving financial distress</a:t>
            </a:r>
          </a:p>
          <a:p>
            <a:r>
              <a:rPr lang="en-US" dirty="0">
                <a:solidFill>
                  <a:schemeClr val="tx2"/>
                </a:solidFill>
                <a:latin typeface="Arial" panose="020B0604020202020204" pitchFamily="34" charset="0"/>
                <a:cs typeface="Arial" panose="020B0604020202020204" pitchFamily="34" charset="0"/>
              </a:rPr>
              <a:t>Debt restructuring</a:t>
            </a:r>
          </a:p>
          <a:p>
            <a:r>
              <a:rPr lang="en-US" dirty="0">
                <a:solidFill>
                  <a:schemeClr val="tx2"/>
                </a:solidFill>
                <a:latin typeface="Arial" panose="020B0604020202020204" pitchFamily="34" charset="0"/>
                <a:cs typeface="Arial" panose="020B0604020202020204" pitchFamily="34" charset="0"/>
              </a:rPr>
              <a:t>Bankruptcy</a:t>
            </a:r>
          </a:p>
          <a:p>
            <a:pPr lvl="1"/>
            <a:r>
              <a:rPr lang="en-US" sz="2200" dirty="0">
                <a:solidFill>
                  <a:schemeClr val="tx2"/>
                </a:solidFill>
                <a:latin typeface="Arial" panose="020B0604020202020204" pitchFamily="34" charset="0"/>
                <a:cs typeface="Arial" panose="020B0604020202020204" pitchFamily="34" charset="0"/>
              </a:rPr>
              <a:t>Reorganization</a:t>
            </a:r>
          </a:p>
          <a:p>
            <a:pPr lvl="1"/>
            <a:r>
              <a:rPr lang="en-US" sz="2200" dirty="0">
                <a:solidFill>
                  <a:schemeClr val="tx2"/>
                </a:solidFill>
                <a:latin typeface="Arial" panose="020B0604020202020204" pitchFamily="34" charset="0"/>
                <a:cs typeface="Arial" panose="020B0604020202020204" pitchFamily="34" charset="0"/>
              </a:rPr>
              <a:t>Liquidation</a:t>
            </a:r>
            <a:r>
              <a:rPr lang="en-US" dirty="0">
                <a:solidFill>
                  <a:schemeClr val="tx2"/>
                </a:solidFill>
                <a:latin typeface="Arial" panose="020B0604020202020204" pitchFamily="34" charset="0"/>
                <a:cs typeface="Arial" panose="020B0604020202020204" pitchFamily="34" charset="0"/>
              </a:rPr>
              <a:t>	</a:t>
            </a:r>
          </a:p>
          <a:p>
            <a:endParaRPr lang="en-US" dirty="0">
              <a:solidFill>
                <a:schemeClr val="tx2"/>
              </a:solidFill>
              <a:latin typeface="Arial" panose="020B0604020202020204" pitchFamily="34" charset="0"/>
              <a:cs typeface="Arial" panose="020B0604020202020204" pitchFamily="34" charset="0"/>
            </a:endParaRPr>
          </a:p>
          <a:p>
            <a:pPr lvl="1"/>
            <a:endParaRPr lang="en-US" dirty="0">
              <a:solidFill>
                <a:schemeClr val="tx2"/>
              </a:solidFill>
              <a:latin typeface="Arial" panose="020B0604020202020204" pitchFamily="34" charset="0"/>
              <a:cs typeface="Arial" panose="020B0604020202020204" pitchFamily="34" charset="0"/>
            </a:endParaRPr>
          </a:p>
          <a:p>
            <a:pPr lvl="1"/>
            <a:endParaRPr lang="en-US" dirty="0">
              <a:solidFill>
                <a:schemeClr val="tx2"/>
              </a:solidFill>
              <a:latin typeface="Arial" panose="020B0604020202020204" pitchFamily="34" charset="0"/>
              <a:cs typeface="Arial" panose="020B0604020202020204" pitchFamily="34" charset="0"/>
            </a:endParaRPr>
          </a:p>
          <a:p>
            <a:pPr lvl="1"/>
            <a:endParaRPr lang="en-US" sz="2200"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6266717"/>
      </p:ext>
    </p:extLst>
  </p:cSld>
  <p:clrMapOvr>
    <a:masterClrMapping/>
  </p:clrMapOvr>
</p:sld>
</file>

<file path=ppt/theme/theme1.xml><?xml version="1.0" encoding="utf-8"?>
<a:theme xmlns:a="http://schemas.openxmlformats.org/drawingml/2006/main" name="Office Theme">
  <a:themeElements>
    <a:clrScheme name="LBS PPT 2019 v11">
      <a:dk1>
        <a:srgbClr val="001E61"/>
      </a:dk1>
      <a:lt1>
        <a:srgbClr val="FFFFFF"/>
      </a:lt1>
      <a:dk2>
        <a:srgbClr val="001440"/>
      </a:dk2>
      <a:lt2>
        <a:srgbClr val="EBE8E5"/>
      </a:lt2>
      <a:accent1>
        <a:srgbClr val="1A2B53"/>
      </a:accent1>
      <a:accent2>
        <a:srgbClr val="D1D0D2"/>
      </a:accent2>
      <a:accent3>
        <a:srgbClr val="7F8EB0"/>
      </a:accent3>
      <a:accent4>
        <a:srgbClr val="D7D2CB"/>
      </a:accent4>
      <a:accent5>
        <a:srgbClr val="D7D2CB"/>
      </a:accent5>
      <a:accent6>
        <a:srgbClr val="D6D2CB"/>
      </a:accent6>
      <a:hlink>
        <a:srgbClr val="192B53"/>
      </a:hlink>
      <a:folHlink>
        <a:srgbClr val="7F8EA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5343.27_PPT_16-9_v13" id="{7118C384-4A8B-4BD3-BFBA-B4C63146734D}" vid="{50FC1767-F280-4BC0-A9B6-2C1071DF4260}"/>
    </a:ext>
  </a:extLst>
</a:theme>
</file>

<file path=ppt/theme/theme2.xml><?xml version="1.0" encoding="utf-8"?>
<a:theme xmlns:a="http://schemas.openxmlformats.org/drawingml/2006/main" name="Lecture Design">
  <a:themeElements>
    <a:clrScheme name="Lecture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200" b="0" i="1"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200" b="0" i="1"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Lecture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ecture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cture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cture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cture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cture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ecture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6117</TotalTime>
  <Words>2564</Words>
  <Application>Microsoft Macintosh PowerPoint</Application>
  <PresentationFormat>Widescreen</PresentationFormat>
  <Paragraphs>330</Paragraphs>
  <Slides>54</Slides>
  <Notes>13</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54</vt:i4>
      </vt:variant>
    </vt:vector>
  </HeadingPairs>
  <TitlesOfParts>
    <vt:vector size="62" baseType="lpstr">
      <vt:lpstr>Arial</vt:lpstr>
      <vt:lpstr>Calibri</vt:lpstr>
      <vt:lpstr>Courier New</vt:lpstr>
      <vt:lpstr>Noto Sans Symbols</vt:lpstr>
      <vt:lpstr>Times New Roman</vt:lpstr>
      <vt:lpstr>Wingdings</vt:lpstr>
      <vt:lpstr>Office Theme</vt:lpstr>
      <vt:lpstr>Lecture Design</vt:lpstr>
      <vt:lpstr>Mergers, MBOs &amp; Other Corporate Reorganizations </vt:lpstr>
      <vt:lpstr>PowerPoint Presentation</vt:lpstr>
      <vt:lpstr>Q1(i)</vt:lpstr>
      <vt:lpstr>Q1(i)</vt:lpstr>
      <vt:lpstr>Q1(ii)</vt:lpstr>
      <vt:lpstr>Q1(ii)</vt:lpstr>
      <vt:lpstr>Q1(iii)</vt:lpstr>
      <vt:lpstr>Q1(iii)</vt:lpstr>
      <vt:lpstr>Q1(iv)</vt:lpstr>
      <vt:lpstr>Q1(iv)</vt:lpstr>
      <vt:lpstr>Q1(iv)</vt:lpstr>
      <vt:lpstr>Q1(v)</vt:lpstr>
      <vt:lpstr>Q1(v)</vt:lpstr>
      <vt:lpstr>Q2(a)</vt:lpstr>
      <vt:lpstr>Q2(a)</vt:lpstr>
      <vt:lpstr>Q2(a)</vt:lpstr>
      <vt:lpstr>Q2(b)</vt:lpstr>
      <vt:lpstr>Q2(b)</vt:lpstr>
      <vt:lpstr>Q2(c)</vt:lpstr>
      <vt:lpstr>Q2(c)</vt:lpstr>
      <vt:lpstr>Q2(d)</vt:lpstr>
      <vt:lpstr>Q2(d)</vt:lpstr>
      <vt:lpstr>Q2(e)</vt:lpstr>
      <vt:lpstr>Q2(e)</vt:lpstr>
      <vt:lpstr>Q3(a)</vt:lpstr>
      <vt:lpstr>Q3(a)</vt:lpstr>
      <vt:lpstr>Q3(a)</vt:lpstr>
      <vt:lpstr>Q3(b)</vt:lpstr>
      <vt:lpstr>Q3(b)</vt:lpstr>
      <vt:lpstr>Q3(c)</vt:lpstr>
      <vt:lpstr>Q3(d)</vt:lpstr>
      <vt:lpstr>Q3(d)</vt:lpstr>
      <vt:lpstr>Q3(e)</vt:lpstr>
      <vt:lpstr>Q3(e)</vt:lpstr>
      <vt:lpstr>Q4(a)</vt:lpstr>
      <vt:lpstr>Q4(a)</vt:lpstr>
      <vt:lpstr>Q4(a)</vt:lpstr>
      <vt:lpstr>Q4(a)</vt:lpstr>
      <vt:lpstr>Q4(b)</vt:lpstr>
      <vt:lpstr>Q4(b)</vt:lpstr>
      <vt:lpstr>Q4(c)</vt:lpstr>
      <vt:lpstr>Q4(c)</vt:lpstr>
      <vt:lpstr>Q4(d)</vt:lpstr>
      <vt:lpstr>Q4(d)</vt:lpstr>
      <vt:lpstr>Key issues that we will discuss</vt:lpstr>
      <vt:lpstr>Key issues that we will discuss</vt:lpstr>
      <vt:lpstr>Key issues that we will discuss</vt:lpstr>
      <vt:lpstr>Mergers and Acquisitions</vt:lpstr>
      <vt:lpstr>Taxonomy of mergers</vt:lpstr>
      <vt:lpstr>An Overview of Valuation </vt:lpstr>
      <vt:lpstr>Control</vt:lpstr>
      <vt:lpstr>Session 3</vt:lpstr>
      <vt:lpstr>Session 5</vt:lpstr>
      <vt:lpstr>Session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Constantine Yannelis</cp:lastModifiedBy>
  <cp:revision>667</cp:revision>
  <cp:lastPrinted>2023-09-07T08:22:30Z</cp:lastPrinted>
  <dcterms:created xsi:type="dcterms:W3CDTF">2021-03-16T10:16:35Z</dcterms:created>
  <dcterms:modified xsi:type="dcterms:W3CDTF">2026-03-14T14:05:34Z</dcterms:modified>
</cp:coreProperties>
</file>